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310" r:id="rId2"/>
    <p:sldId id="311" r:id="rId3"/>
    <p:sldId id="349" r:id="rId4"/>
    <p:sldId id="352" r:id="rId5"/>
    <p:sldId id="353" r:id="rId6"/>
    <p:sldId id="354" r:id="rId7"/>
    <p:sldId id="355" r:id="rId8"/>
    <p:sldId id="356" r:id="rId9"/>
    <p:sldId id="350" r:id="rId10"/>
    <p:sldId id="29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esit" initials="p"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B350"/>
    <a:srgbClr val="DFA267"/>
    <a:srgbClr val="FEDC32"/>
    <a:srgbClr val="FDBA53"/>
    <a:srgbClr val="10B9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86" autoAdjust="0"/>
    <p:restoredTop sz="71429" autoAdjust="0"/>
  </p:normalViewPr>
  <p:slideViewPr>
    <p:cSldViewPr snapToGrid="0">
      <p:cViewPr varScale="1">
        <p:scale>
          <a:sx n="85" d="100"/>
          <a:sy n="85" d="100"/>
        </p:scale>
        <p:origin x="538" y="62"/>
      </p:cViewPr>
      <p:guideLst/>
    </p:cSldViewPr>
  </p:slideViewPr>
  <p:notesTextViewPr>
    <p:cViewPr>
      <p:scale>
        <a:sx n="1" d="1"/>
        <a:sy n="1" d="1"/>
      </p:scale>
      <p:origin x="0" y="0"/>
    </p:cViewPr>
  </p:notesTextViewPr>
  <p:sorterViewPr>
    <p:cViewPr>
      <p:scale>
        <a:sx n="60" d="100"/>
        <a:sy n="6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04B1D6-09DA-45D8-B167-602C9A976F07}" type="datetimeFigureOut">
              <a:rPr lang="en-IN" smtClean="0"/>
              <a:t>21-09-2026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D7C3C2-FA17-4336-9B42-D809C09EBB8F}" type="slidenum">
              <a:rPr lang="en-IN" smtClean="0"/>
              <a:t>‹#›</a:t>
            </a:fld>
            <a:endParaRPr lang="en-IN"/>
          </a:p>
        </p:txBody>
      </p:sp>
    </p:spTree>
    <p:extLst>
      <p:ext uri="{BB962C8B-B14F-4D97-AF65-F5344CB8AC3E}">
        <p14:creationId xmlns:p14="http://schemas.microsoft.com/office/powerpoint/2010/main" val="2462637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8D7C3C2-FA17-4336-9B42-D809C09EBB8F}" type="slidenum">
              <a:rPr lang="en-IN" smtClean="0"/>
              <a:t>2</a:t>
            </a:fld>
            <a:endParaRPr lang="en-IN"/>
          </a:p>
        </p:txBody>
      </p:sp>
    </p:spTree>
    <p:extLst>
      <p:ext uri="{BB962C8B-B14F-4D97-AF65-F5344CB8AC3E}">
        <p14:creationId xmlns:p14="http://schemas.microsoft.com/office/powerpoint/2010/main" val="1551124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8D7C3C2-FA17-4336-9B42-D809C09EBB8F}" type="slidenum">
              <a:rPr lang="en-IN" smtClean="0"/>
              <a:t>3</a:t>
            </a:fld>
            <a:endParaRPr lang="en-IN"/>
          </a:p>
        </p:txBody>
      </p:sp>
    </p:spTree>
    <p:extLst>
      <p:ext uri="{BB962C8B-B14F-4D97-AF65-F5344CB8AC3E}">
        <p14:creationId xmlns:p14="http://schemas.microsoft.com/office/powerpoint/2010/main" val="284501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8D7C3C2-FA17-4336-9B42-D809C09EBB8F}" type="slidenum">
              <a:rPr lang="en-IN" smtClean="0"/>
              <a:t>8</a:t>
            </a:fld>
            <a:endParaRPr lang="en-IN"/>
          </a:p>
        </p:txBody>
      </p:sp>
    </p:spTree>
    <p:extLst>
      <p:ext uri="{BB962C8B-B14F-4D97-AF65-F5344CB8AC3E}">
        <p14:creationId xmlns:p14="http://schemas.microsoft.com/office/powerpoint/2010/main" val="1517703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C3D4B-626B-4009-8192-CEAEED1423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A51827C-B164-4C81-9990-CA48A6D695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07DF93E-677D-48F6-8B5A-46E43F2C154F}"/>
              </a:ext>
            </a:extLst>
          </p:cNvPr>
          <p:cNvSpPr>
            <a:spLocks noGrp="1"/>
          </p:cNvSpPr>
          <p:nvPr>
            <p:ph type="dt" sz="half" idx="10"/>
          </p:nvPr>
        </p:nvSpPr>
        <p:spPr/>
        <p:txBody>
          <a:bodyPr/>
          <a:lstStyle/>
          <a:p>
            <a:fld id="{84D2B106-8B17-41D3-A48E-7CB07948C887}" type="datetime1">
              <a:rPr lang="en-IN" smtClean="0"/>
              <a:t>21-09-2026</a:t>
            </a:fld>
            <a:endParaRPr lang="en-IN"/>
          </a:p>
        </p:txBody>
      </p:sp>
      <p:sp>
        <p:nvSpPr>
          <p:cNvPr id="5" name="Footer Placeholder 4">
            <a:extLst>
              <a:ext uri="{FF2B5EF4-FFF2-40B4-BE49-F238E27FC236}">
                <a16:creationId xmlns:a16="http://schemas.microsoft.com/office/drawing/2014/main" id="{B1DF4446-763D-4DB5-A60E-E76234DDA4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82FF9A-F0E6-4BE5-A785-09D93A759624}"/>
              </a:ext>
            </a:extLst>
          </p:cNvPr>
          <p:cNvSpPr>
            <a:spLocks noGrp="1"/>
          </p:cNvSpPr>
          <p:nvPr>
            <p:ph type="sldNum" sz="quarter" idx="12"/>
          </p:nvPr>
        </p:nvSpPr>
        <p:spPr/>
        <p:txBody>
          <a:bodyPr/>
          <a:lstStyle/>
          <a:p>
            <a:fld id="{D430BA08-B69C-4752-B2CF-0C56A0BACDE6}" type="slidenum">
              <a:rPr lang="en-IN" smtClean="0"/>
              <a:t>‹#›</a:t>
            </a:fld>
            <a:endParaRPr lang="en-IN"/>
          </a:p>
        </p:txBody>
      </p:sp>
    </p:spTree>
    <p:extLst>
      <p:ext uri="{BB962C8B-B14F-4D97-AF65-F5344CB8AC3E}">
        <p14:creationId xmlns:p14="http://schemas.microsoft.com/office/powerpoint/2010/main" val="805025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E7D49-DB18-4481-BBAD-3CCDB0B6E1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B48B0F-E770-4648-80B0-0B9A177348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89BBA6-35F4-4C69-B817-8B6D5B3C7F64}"/>
              </a:ext>
            </a:extLst>
          </p:cNvPr>
          <p:cNvSpPr>
            <a:spLocks noGrp="1"/>
          </p:cNvSpPr>
          <p:nvPr>
            <p:ph type="dt" sz="half" idx="10"/>
          </p:nvPr>
        </p:nvSpPr>
        <p:spPr/>
        <p:txBody>
          <a:bodyPr/>
          <a:lstStyle/>
          <a:p>
            <a:fld id="{3F0C4A0E-B4EC-4608-92AE-4411CEDA8C6E}" type="datetime1">
              <a:rPr lang="en-IN" smtClean="0"/>
              <a:t>21-09-2026</a:t>
            </a:fld>
            <a:endParaRPr lang="en-IN"/>
          </a:p>
        </p:txBody>
      </p:sp>
      <p:sp>
        <p:nvSpPr>
          <p:cNvPr id="5" name="Footer Placeholder 4">
            <a:extLst>
              <a:ext uri="{FF2B5EF4-FFF2-40B4-BE49-F238E27FC236}">
                <a16:creationId xmlns:a16="http://schemas.microsoft.com/office/drawing/2014/main" id="{1F6B119B-E4E0-4014-B1F1-495E208A0C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B45A5E-AE1B-4A92-B64A-2F8A4786E1A2}"/>
              </a:ext>
            </a:extLst>
          </p:cNvPr>
          <p:cNvSpPr>
            <a:spLocks noGrp="1"/>
          </p:cNvSpPr>
          <p:nvPr>
            <p:ph type="sldNum" sz="quarter" idx="12"/>
          </p:nvPr>
        </p:nvSpPr>
        <p:spPr/>
        <p:txBody>
          <a:bodyPr/>
          <a:lstStyle/>
          <a:p>
            <a:fld id="{D430BA08-B69C-4752-B2CF-0C56A0BACDE6}" type="slidenum">
              <a:rPr lang="en-IN" smtClean="0"/>
              <a:t>‹#›</a:t>
            </a:fld>
            <a:endParaRPr lang="en-IN"/>
          </a:p>
        </p:txBody>
      </p:sp>
    </p:spTree>
    <p:extLst>
      <p:ext uri="{BB962C8B-B14F-4D97-AF65-F5344CB8AC3E}">
        <p14:creationId xmlns:p14="http://schemas.microsoft.com/office/powerpoint/2010/main" val="1563409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8196D-BED0-4BD8-AB4C-B2B3CCC7D5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C613EC-F0A0-4466-A6C2-D28B863D15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CF7A95-22EE-4F22-AEDA-C190D2F87D01}"/>
              </a:ext>
            </a:extLst>
          </p:cNvPr>
          <p:cNvSpPr>
            <a:spLocks noGrp="1"/>
          </p:cNvSpPr>
          <p:nvPr>
            <p:ph type="dt" sz="half" idx="10"/>
          </p:nvPr>
        </p:nvSpPr>
        <p:spPr/>
        <p:txBody>
          <a:bodyPr/>
          <a:lstStyle/>
          <a:p>
            <a:fld id="{004E1E3E-ABCC-4860-8499-6AB859DD0EFA}" type="datetime1">
              <a:rPr lang="en-IN" smtClean="0"/>
              <a:t>21-09-2026</a:t>
            </a:fld>
            <a:endParaRPr lang="en-IN"/>
          </a:p>
        </p:txBody>
      </p:sp>
      <p:sp>
        <p:nvSpPr>
          <p:cNvPr id="5" name="Footer Placeholder 4">
            <a:extLst>
              <a:ext uri="{FF2B5EF4-FFF2-40B4-BE49-F238E27FC236}">
                <a16:creationId xmlns:a16="http://schemas.microsoft.com/office/drawing/2014/main" id="{7C385F91-0601-4D65-A3E8-CFDC20A775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D0A9F0-9DDE-4015-8C5C-5C9D6B60DDA0}"/>
              </a:ext>
            </a:extLst>
          </p:cNvPr>
          <p:cNvSpPr>
            <a:spLocks noGrp="1"/>
          </p:cNvSpPr>
          <p:nvPr>
            <p:ph type="sldNum" sz="quarter" idx="12"/>
          </p:nvPr>
        </p:nvSpPr>
        <p:spPr/>
        <p:txBody>
          <a:bodyPr/>
          <a:lstStyle/>
          <a:p>
            <a:fld id="{D430BA08-B69C-4752-B2CF-0C56A0BACDE6}" type="slidenum">
              <a:rPr lang="en-IN" smtClean="0"/>
              <a:t>‹#›</a:t>
            </a:fld>
            <a:endParaRPr lang="en-IN"/>
          </a:p>
        </p:txBody>
      </p:sp>
    </p:spTree>
    <p:extLst>
      <p:ext uri="{BB962C8B-B14F-4D97-AF65-F5344CB8AC3E}">
        <p14:creationId xmlns:p14="http://schemas.microsoft.com/office/powerpoint/2010/main" val="255963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E85AF-03C6-4B44-A538-43B0427D31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C33EE5-59F6-4A1A-AE1E-8765B2B763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D9D6861-A242-46E3-9BF3-A0C8A8DBB4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A9D4037-319B-46C2-9889-B7EE91425689}"/>
              </a:ext>
            </a:extLst>
          </p:cNvPr>
          <p:cNvSpPr>
            <a:spLocks noGrp="1"/>
          </p:cNvSpPr>
          <p:nvPr>
            <p:ph type="dt" sz="half" idx="10"/>
          </p:nvPr>
        </p:nvSpPr>
        <p:spPr/>
        <p:txBody>
          <a:bodyPr/>
          <a:lstStyle/>
          <a:p>
            <a:fld id="{701E6B18-4956-4B5A-A93A-92A30ECEDB1D}" type="datetime1">
              <a:rPr lang="en-IN" smtClean="0"/>
              <a:t>21-09-2026</a:t>
            </a:fld>
            <a:endParaRPr lang="en-IN"/>
          </a:p>
        </p:txBody>
      </p:sp>
      <p:sp>
        <p:nvSpPr>
          <p:cNvPr id="6" name="Footer Placeholder 5">
            <a:extLst>
              <a:ext uri="{FF2B5EF4-FFF2-40B4-BE49-F238E27FC236}">
                <a16:creationId xmlns:a16="http://schemas.microsoft.com/office/drawing/2014/main" id="{C1EE4E15-6B43-42E0-9689-9D809E7745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5B8A2C-7787-42C7-9053-9FAC49800765}"/>
              </a:ext>
            </a:extLst>
          </p:cNvPr>
          <p:cNvSpPr>
            <a:spLocks noGrp="1"/>
          </p:cNvSpPr>
          <p:nvPr>
            <p:ph type="sldNum" sz="quarter" idx="12"/>
          </p:nvPr>
        </p:nvSpPr>
        <p:spPr/>
        <p:txBody>
          <a:bodyPr/>
          <a:lstStyle/>
          <a:p>
            <a:fld id="{D430BA08-B69C-4752-B2CF-0C56A0BACDE6}" type="slidenum">
              <a:rPr lang="en-IN" smtClean="0"/>
              <a:t>‹#›</a:t>
            </a:fld>
            <a:endParaRPr lang="en-IN"/>
          </a:p>
        </p:txBody>
      </p:sp>
    </p:spTree>
    <p:extLst>
      <p:ext uri="{BB962C8B-B14F-4D97-AF65-F5344CB8AC3E}">
        <p14:creationId xmlns:p14="http://schemas.microsoft.com/office/powerpoint/2010/main" val="4130094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7F82-17CF-402C-A83C-9BB0B0450C8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6925B8-18E2-4648-9C7D-9A50568E68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ECAC91-5516-49CF-ABB2-BDCA1101D9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13B518C-5424-4D17-AE61-73B5540B3F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18E488-5143-4637-878A-8024B768B6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2F92FE0-EADD-43E3-B191-7F6FEA9C81E6}"/>
              </a:ext>
            </a:extLst>
          </p:cNvPr>
          <p:cNvSpPr>
            <a:spLocks noGrp="1"/>
          </p:cNvSpPr>
          <p:nvPr>
            <p:ph type="dt" sz="half" idx="10"/>
          </p:nvPr>
        </p:nvSpPr>
        <p:spPr/>
        <p:txBody>
          <a:bodyPr/>
          <a:lstStyle/>
          <a:p>
            <a:fld id="{008D835C-09E4-47AF-A6AC-5081E093C1A7}" type="datetime1">
              <a:rPr lang="en-IN" smtClean="0"/>
              <a:t>21-09-2026</a:t>
            </a:fld>
            <a:endParaRPr lang="en-IN"/>
          </a:p>
        </p:txBody>
      </p:sp>
      <p:sp>
        <p:nvSpPr>
          <p:cNvPr id="8" name="Footer Placeholder 7">
            <a:extLst>
              <a:ext uri="{FF2B5EF4-FFF2-40B4-BE49-F238E27FC236}">
                <a16:creationId xmlns:a16="http://schemas.microsoft.com/office/drawing/2014/main" id="{FD4604E9-CD41-4846-B48F-03B22B3709D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AFE060F-933B-49D3-8FF3-B0DEF9DC6484}"/>
              </a:ext>
            </a:extLst>
          </p:cNvPr>
          <p:cNvSpPr>
            <a:spLocks noGrp="1"/>
          </p:cNvSpPr>
          <p:nvPr>
            <p:ph type="sldNum" sz="quarter" idx="12"/>
          </p:nvPr>
        </p:nvSpPr>
        <p:spPr/>
        <p:txBody>
          <a:bodyPr/>
          <a:lstStyle/>
          <a:p>
            <a:fld id="{D430BA08-B69C-4752-B2CF-0C56A0BACDE6}" type="slidenum">
              <a:rPr lang="en-IN" smtClean="0"/>
              <a:t>‹#›</a:t>
            </a:fld>
            <a:endParaRPr lang="en-IN"/>
          </a:p>
        </p:txBody>
      </p:sp>
    </p:spTree>
    <p:extLst>
      <p:ext uri="{BB962C8B-B14F-4D97-AF65-F5344CB8AC3E}">
        <p14:creationId xmlns:p14="http://schemas.microsoft.com/office/powerpoint/2010/main" val="304611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33CA-B572-4BA7-A189-A42C96F1089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8BA2B92-6276-46C5-8418-926229142AF0}"/>
              </a:ext>
            </a:extLst>
          </p:cNvPr>
          <p:cNvSpPr>
            <a:spLocks noGrp="1"/>
          </p:cNvSpPr>
          <p:nvPr>
            <p:ph type="dt" sz="half" idx="10"/>
          </p:nvPr>
        </p:nvSpPr>
        <p:spPr/>
        <p:txBody>
          <a:bodyPr/>
          <a:lstStyle/>
          <a:p>
            <a:fld id="{031B2882-B4FC-486D-BD84-1FB4D1DDB990}" type="datetime1">
              <a:rPr lang="en-IN" smtClean="0"/>
              <a:t>21-09-2026</a:t>
            </a:fld>
            <a:endParaRPr lang="en-IN"/>
          </a:p>
        </p:txBody>
      </p:sp>
      <p:sp>
        <p:nvSpPr>
          <p:cNvPr id="4" name="Footer Placeholder 3">
            <a:extLst>
              <a:ext uri="{FF2B5EF4-FFF2-40B4-BE49-F238E27FC236}">
                <a16:creationId xmlns:a16="http://schemas.microsoft.com/office/drawing/2014/main" id="{ADC7E3F1-B21B-41C5-BFFE-A0D23D01EE2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033B9AF-625C-4788-81E5-2B790AE33D0F}"/>
              </a:ext>
            </a:extLst>
          </p:cNvPr>
          <p:cNvSpPr>
            <a:spLocks noGrp="1"/>
          </p:cNvSpPr>
          <p:nvPr>
            <p:ph type="sldNum" sz="quarter" idx="12"/>
          </p:nvPr>
        </p:nvSpPr>
        <p:spPr/>
        <p:txBody>
          <a:bodyPr/>
          <a:lstStyle/>
          <a:p>
            <a:fld id="{D430BA08-B69C-4752-B2CF-0C56A0BACDE6}" type="slidenum">
              <a:rPr lang="en-IN" smtClean="0"/>
              <a:t>‹#›</a:t>
            </a:fld>
            <a:endParaRPr lang="en-IN"/>
          </a:p>
        </p:txBody>
      </p:sp>
    </p:spTree>
    <p:extLst>
      <p:ext uri="{BB962C8B-B14F-4D97-AF65-F5344CB8AC3E}">
        <p14:creationId xmlns:p14="http://schemas.microsoft.com/office/powerpoint/2010/main" val="34773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34E3B9-7089-4D8E-9F92-ED9350E73E40}"/>
              </a:ext>
            </a:extLst>
          </p:cNvPr>
          <p:cNvSpPr>
            <a:spLocks noGrp="1"/>
          </p:cNvSpPr>
          <p:nvPr>
            <p:ph type="dt" sz="half" idx="10"/>
          </p:nvPr>
        </p:nvSpPr>
        <p:spPr/>
        <p:txBody>
          <a:bodyPr/>
          <a:lstStyle/>
          <a:p>
            <a:fld id="{79CAD760-B4C3-4D40-B995-8B0314A45AF4}" type="datetime1">
              <a:rPr lang="en-IN" smtClean="0"/>
              <a:t>21-09-2026</a:t>
            </a:fld>
            <a:endParaRPr lang="en-IN"/>
          </a:p>
        </p:txBody>
      </p:sp>
      <p:sp>
        <p:nvSpPr>
          <p:cNvPr id="3" name="Footer Placeholder 2">
            <a:extLst>
              <a:ext uri="{FF2B5EF4-FFF2-40B4-BE49-F238E27FC236}">
                <a16:creationId xmlns:a16="http://schemas.microsoft.com/office/drawing/2014/main" id="{C85D6F49-DBB0-4783-8669-C7B8A7030A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8775C0C-F413-41B7-B055-646B0BFD3A09}"/>
              </a:ext>
            </a:extLst>
          </p:cNvPr>
          <p:cNvSpPr>
            <a:spLocks noGrp="1"/>
          </p:cNvSpPr>
          <p:nvPr>
            <p:ph type="sldNum" sz="quarter" idx="12"/>
          </p:nvPr>
        </p:nvSpPr>
        <p:spPr/>
        <p:txBody>
          <a:bodyPr/>
          <a:lstStyle/>
          <a:p>
            <a:fld id="{D430BA08-B69C-4752-B2CF-0C56A0BACDE6}" type="slidenum">
              <a:rPr lang="en-IN" smtClean="0"/>
              <a:t>‹#›</a:t>
            </a:fld>
            <a:endParaRPr lang="en-IN"/>
          </a:p>
        </p:txBody>
      </p:sp>
    </p:spTree>
    <p:extLst>
      <p:ext uri="{BB962C8B-B14F-4D97-AF65-F5344CB8AC3E}">
        <p14:creationId xmlns:p14="http://schemas.microsoft.com/office/powerpoint/2010/main" val="4223190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5262E-9CC6-4471-87B5-E96BB4A839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85306A-CD4B-46EE-9161-2B0A130F2A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7A59BE6-9514-4D99-A003-32E53BEDF6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1144FC-DE55-4C66-B467-EE320664508C}"/>
              </a:ext>
            </a:extLst>
          </p:cNvPr>
          <p:cNvSpPr>
            <a:spLocks noGrp="1"/>
          </p:cNvSpPr>
          <p:nvPr>
            <p:ph type="dt" sz="half" idx="10"/>
          </p:nvPr>
        </p:nvSpPr>
        <p:spPr/>
        <p:txBody>
          <a:bodyPr/>
          <a:lstStyle/>
          <a:p>
            <a:fld id="{FEBAA248-EA97-462F-80C7-E56F662C9243}" type="datetime1">
              <a:rPr lang="en-IN" smtClean="0"/>
              <a:t>21-09-2026</a:t>
            </a:fld>
            <a:endParaRPr lang="en-IN"/>
          </a:p>
        </p:txBody>
      </p:sp>
      <p:sp>
        <p:nvSpPr>
          <p:cNvPr id="6" name="Footer Placeholder 5">
            <a:extLst>
              <a:ext uri="{FF2B5EF4-FFF2-40B4-BE49-F238E27FC236}">
                <a16:creationId xmlns:a16="http://schemas.microsoft.com/office/drawing/2014/main" id="{7ABC472B-5E7F-485E-A706-89B79D412C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56C44B-3BC6-40D9-94ED-B0796F8E1329}"/>
              </a:ext>
            </a:extLst>
          </p:cNvPr>
          <p:cNvSpPr>
            <a:spLocks noGrp="1"/>
          </p:cNvSpPr>
          <p:nvPr>
            <p:ph type="sldNum" sz="quarter" idx="12"/>
          </p:nvPr>
        </p:nvSpPr>
        <p:spPr/>
        <p:txBody>
          <a:bodyPr/>
          <a:lstStyle/>
          <a:p>
            <a:fld id="{D430BA08-B69C-4752-B2CF-0C56A0BACDE6}" type="slidenum">
              <a:rPr lang="en-IN" smtClean="0"/>
              <a:t>‹#›</a:t>
            </a:fld>
            <a:endParaRPr lang="en-IN"/>
          </a:p>
        </p:txBody>
      </p:sp>
    </p:spTree>
    <p:extLst>
      <p:ext uri="{BB962C8B-B14F-4D97-AF65-F5344CB8AC3E}">
        <p14:creationId xmlns:p14="http://schemas.microsoft.com/office/powerpoint/2010/main" val="3490178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59C2A-444C-4E85-BF34-29BD3E3F6D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688350-F59A-41DF-B2EF-F9EEA24700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C5D8DC2-A933-46C8-BE16-322CE1A3EC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17E0BD-405F-407D-AAE8-84A2C67291BD}"/>
              </a:ext>
            </a:extLst>
          </p:cNvPr>
          <p:cNvSpPr>
            <a:spLocks noGrp="1"/>
          </p:cNvSpPr>
          <p:nvPr>
            <p:ph type="dt" sz="half" idx="10"/>
          </p:nvPr>
        </p:nvSpPr>
        <p:spPr/>
        <p:txBody>
          <a:bodyPr/>
          <a:lstStyle/>
          <a:p>
            <a:fld id="{16E848C7-ED82-4909-85C0-9335223BE6CF}" type="datetime1">
              <a:rPr lang="en-IN" smtClean="0"/>
              <a:t>21-09-2026</a:t>
            </a:fld>
            <a:endParaRPr lang="en-IN"/>
          </a:p>
        </p:txBody>
      </p:sp>
      <p:sp>
        <p:nvSpPr>
          <p:cNvPr id="6" name="Footer Placeholder 5">
            <a:extLst>
              <a:ext uri="{FF2B5EF4-FFF2-40B4-BE49-F238E27FC236}">
                <a16:creationId xmlns:a16="http://schemas.microsoft.com/office/drawing/2014/main" id="{F5294B3E-2DAE-4C72-9B6F-EE43965DA9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74055D-9410-4E28-8C54-90B4F6E7DBFF}"/>
              </a:ext>
            </a:extLst>
          </p:cNvPr>
          <p:cNvSpPr>
            <a:spLocks noGrp="1"/>
          </p:cNvSpPr>
          <p:nvPr>
            <p:ph type="sldNum" sz="quarter" idx="12"/>
          </p:nvPr>
        </p:nvSpPr>
        <p:spPr/>
        <p:txBody>
          <a:bodyPr/>
          <a:lstStyle/>
          <a:p>
            <a:fld id="{D430BA08-B69C-4752-B2CF-0C56A0BACDE6}" type="slidenum">
              <a:rPr lang="en-IN" smtClean="0"/>
              <a:t>‹#›</a:t>
            </a:fld>
            <a:endParaRPr lang="en-IN"/>
          </a:p>
        </p:txBody>
      </p:sp>
    </p:spTree>
    <p:extLst>
      <p:ext uri="{BB962C8B-B14F-4D97-AF65-F5344CB8AC3E}">
        <p14:creationId xmlns:p14="http://schemas.microsoft.com/office/powerpoint/2010/main" val="2931258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E96CC-24D7-4AC0-845A-98CA572FE6D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261921-3E80-4007-9849-91F4F1D9CF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A091F3-2079-48AC-A58B-4C729775D003}"/>
              </a:ext>
            </a:extLst>
          </p:cNvPr>
          <p:cNvSpPr>
            <a:spLocks noGrp="1"/>
          </p:cNvSpPr>
          <p:nvPr>
            <p:ph type="dt" sz="half" idx="10"/>
          </p:nvPr>
        </p:nvSpPr>
        <p:spPr/>
        <p:txBody>
          <a:bodyPr/>
          <a:lstStyle/>
          <a:p>
            <a:fld id="{AC0C84DA-56DD-47D6-920A-83C5CA4B2363}" type="datetime1">
              <a:rPr lang="en-IN" smtClean="0"/>
              <a:t>21-09-2026</a:t>
            </a:fld>
            <a:endParaRPr lang="en-IN"/>
          </a:p>
        </p:txBody>
      </p:sp>
      <p:sp>
        <p:nvSpPr>
          <p:cNvPr id="5" name="Footer Placeholder 4">
            <a:extLst>
              <a:ext uri="{FF2B5EF4-FFF2-40B4-BE49-F238E27FC236}">
                <a16:creationId xmlns:a16="http://schemas.microsoft.com/office/drawing/2014/main" id="{42536A67-7BBF-4557-B86C-E3D43DA805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DF2A7F-20B3-4FEC-B2FB-22B3B56A9620}"/>
              </a:ext>
            </a:extLst>
          </p:cNvPr>
          <p:cNvSpPr>
            <a:spLocks noGrp="1"/>
          </p:cNvSpPr>
          <p:nvPr>
            <p:ph type="sldNum" sz="quarter" idx="12"/>
          </p:nvPr>
        </p:nvSpPr>
        <p:spPr/>
        <p:txBody>
          <a:bodyPr/>
          <a:lstStyle/>
          <a:p>
            <a:fld id="{D430BA08-B69C-4752-B2CF-0C56A0BACDE6}" type="slidenum">
              <a:rPr lang="en-IN" smtClean="0"/>
              <a:t>‹#›</a:t>
            </a:fld>
            <a:endParaRPr lang="en-IN"/>
          </a:p>
        </p:txBody>
      </p:sp>
    </p:spTree>
    <p:extLst>
      <p:ext uri="{BB962C8B-B14F-4D97-AF65-F5344CB8AC3E}">
        <p14:creationId xmlns:p14="http://schemas.microsoft.com/office/powerpoint/2010/main" val="3386502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974505-5F88-4C68-B044-B90A875A12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8154938-180F-400A-A444-2DAC9B404C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44BC1C-22DF-43AD-B4A1-B55EB4C01F8A}"/>
              </a:ext>
            </a:extLst>
          </p:cNvPr>
          <p:cNvSpPr>
            <a:spLocks noGrp="1"/>
          </p:cNvSpPr>
          <p:nvPr>
            <p:ph type="dt" sz="half" idx="10"/>
          </p:nvPr>
        </p:nvSpPr>
        <p:spPr/>
        <p:txBody>
          <a:bodyPr/>
          <a:lstStyle/>
          <a:p>
            <a:fld id="{FBC7D60E-A526-459F-A8C9-BD20116EE04A}" type="datetime1">
              <a:rPr lang="en-IN" smtClean="0"/>
              <a:t>21-09-2026</a:t>
            </a:fld>
            <a:endParaRPr lang="en-IN"/>
          </a:p>
        </p:txBody>
      </p:sp>
      <p:sp>
        <p:nvSpPr>
          <p:cNvPr id="5" name="Footer Placeholder 4">
            <a:extLst>
              <a:ext uri="{FF2B5EF4-FFF2-40B4-BE49-F238E27FC236}">
                <a16:creationId xmlns:a16="http://schemas.microsoft.com/office/drawing/2014/main" id="{1C439F43-011E-4BE1-A79A-17FE1495CC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025448-2680-4648-B696-07B726E5BEA4}"/>
              </a:ext>
            </a:extLst>
          </p:cNvPr>
          <p:cNvSpPr>
            <a:spLocks noGrp="1"/>
          </p:cNvSpPr>
          <p:nvPr>
            <p:ph type="sldNum" sz="quarter" idx="12"/>
          </p:nvPr>
        </p:nvSpPr>
        <p:spPr/>
        <p:txBody>
          <a:bodyPr/>
          <a:lstStyle/>
          <a:p>
            <a:fld id="{D430BA08-B69C-4752-B2CF-0C56A0BACDE6}" type="slidenum">
              <a:rPr lang="en-IN" smtClean="0"/>
              <a:t>‹#›</a:t>
            </a:fld>
            <a:endParaRPr lang="en-IN"/>
          </a:p>
        </p:txBody>
      </p:sp>
    </p:spTree>
    <p:extLst>
      <p:ext uri="{BB962C8B-B14F-4D97-AF65-F5344CB8AC3E}">
        <p14:creationId xmlns:p14="http://schemas.microsoft.com/office/powerpoint/2010/main" val="1186034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49A4AD-9C61-4A2F-99E0-675E335926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0F732A-189B-4AC1-886A-23584A50B8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F3EE23-AF03-4903-9219-60875A711F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9C3AED-25EE-49F7-BE43-02DAF5841E63}" type="datetime1">
              <a:rPr lang="en-IN" smtClean="0"/>
              <a:t>21-09-2026</a:t>
            </a:fld>
            <a:endParaRPr lang="en-IN"/>
          </a:p>
        </p:txBody>
      </p:sp>
      <p:sp>
        <p:nvSpPr>
          <p:cNvPr id="5" name="Footer Placeholder 4">
            <a:extLst>
              <a:ext uri="{FF2B5EF4-FFF2-40B4-BE49-F238E27FC236}">
                <a16:creationId xmlns:a16="http://schemas.microsoft.com/office/drawing/2014/main" id="{957FC4B0-FF26-4AB9-BACD-041A24DCD2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C8E684-F46A-48CC-BAD8-663F8E1173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30BA08-B69C-4752-B2CF-0C56A0BACDE6}" type="slidenum">
              <a:rPr lang="en-IN" smtClean="0"/>
              <a:t>‹#›</a:t>
            </a:fld>
            <a:endParaRPr lang="en-IN"/>
          </a:p>
        </p:txBody>
      </p:sp>
    </p:spTree>
    <p:extLst>
      <p:ext uri="{BB962C8B-B14F-4D97-AF65-F5344CB8AC3E}">
        <p14:creationId xmlns:p14="http://schemas.microsoft.com/office/powerpoint/2010/main" val="471109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44FD96A8-0571-4828-AA94-7DB93A4857C5}"/>
              </a:ext>
            </a:extLst>
          </p:cNvPr>
          <p:cNvCxnSpPr>
            <a:cxnSpLocks/>
          </p:cNvCxnSpPr>
          <p:nvPr/>
        </p:nvCxnSpPr>
        <p:spPr>
          <a:xfrm>
            <a:off x="4648856" y="1958426"/>
            <a:ext cx="5855207"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6DD8DCC0-549E-48DB-8CCA-E3FF8FBDEBF0}"/>
              </a:ext>
            </a:extLst>
          </p:cNvPr>
          <p:cNvGrpSpPr/>
          <p:nvPr/>
        </p:nvGrpSpPr>
        <p:grpSpPr>
          <a:xfrm>
            <a:off x="313844" y="349466"/>
            <a:ext cx="11518407" cy="6218388"/>
            <a:chOff x="313844" y="349466"/>
            <a:chExt cx="11518407" cy="6218388"/>
          </a:xfrm>
          <a:solidFill>
            <a:schemeClr val="accent2">
              <a:lumMod val="60000"/>
              <a:lumOff val="40000"/>
            </a:schemeClr>
          </a:solidFill>
        </p:grpSpPr>
        <p:sp>
          <p:nvSpPr>
            <p:cNvPr id="24" name="Rectangle 23">
              <a:extLst>
                <a:ext uri="{FF2B5EF4-FFF2-40B4-BE49-F238E27FC236}">
                  <a16:creationId xmlns:a16="http://schemas.microsoft.com/office/drawing/2014/main" id="{B895392A-2454-40A6-9F7C-BC20D3A463EB}"/>
                </a:ext>
              </a:extLst>
            </p:cNvPr>
            <p:cNvSpPr/>
            <p:nvPr/>
          </p:nvSpPr>
          <p:spPr>
            <a:xfrm>
              <a:off x="11786532" y="360726"/>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DC7604FF-DE88-44B6-A0D9-723028500B8B}"/>
                </a:ext>
              </a:extLst>
            </p:cNvPr>
            <p:cNvSpPr/>
            <p:nvPr/>
          </p:nvSpPr>
          <p:spPr>
            <a:xfrm rot="5400000">
              <a:off x="11275944" y="-161122"/>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35F4DC18-13F2-43D2-9B15-157998AF1875}"/>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34375A76-1BF8-4628-B0FE-78E1BEB569B2}"/>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9" name="Rectangle 18">
            <a:extLst>
              <a:ext uri="{FF2B5EF4-FFF2-40B4-BE49-F238E27FC236}">
                <a16:creationId xmlns:a16="http://schemas.microsoft.com/office/drawing/2014/main" id="{A6945700-3E62-4469-A35D-2B3AE23A08DF}"/>
              </a:ext>
            </a:extLst>
          </p:cNvPr>
          <p:cNvSpPr/>
          <p:nvPr/>
        </p:nvSpPr>
        <p:spPr>
          <a:xfrm>
            <a:off x="3890097" y="1239736"/>
            <a:ext cx="6790873" cy="646331"/>
          </a:xfrm>
          <a:prstGeom prst="rect">
            <a:avLst/>
          </a:prstGeom>
        </p:spPr>
        <p:txBody>
          <a:bodyPr wrap="square">
            <a:spAutoFit/>
          </a:bodyPr>
          <a:lstStyle/>
          <a:p>
            <a:pPr algn="ctr"/>
            <a:r>
              <a:rPr lang="en-US" sz="3600" b="1" dirty="0">
                <a:solidFill>
                  <a:srgbClr val="FF0000"/>
                </a:solidFill>
              </a:rPr>
              <a:t>Unisphere AI </a:t>
            </a:r>
            <a:endParaRPr lang="en-IN" sz="3600" b="1" dirty="0">
              <a:solidFill>
                <a:srgbClr val="FF0000"/>
              </a:solidFill>
            </a:endParaRPr>
          </a:p>
        </p:txBody>
      </p:sp>
      <p:pic>
        <p:nvPicPr>
          <p:cNvPr id="2" name="Picture 1">
            <a:extLst>
              <a:ext uri="{FF2B5EF4-FFF2-40B4-BE49-F238E27FC236}">
                <a16:creationId xmlns:a16="http://schemas.microsoft.com/office/drawing/2014/main" id="{E7E32EDD-5ADB-315F-4F7A-EA3954F8EAD8}"/>
              </a:ext>
            </a:extLst>
          </p:cNvPr>
          <p:cNvPicPr>
            <a:picLocks noChangeAspect="1"/>
          </p:cNvPicPr>
          <p:nvPr/>
        </p:nvPicPr>
        <p:blipFill>
          <a:blip r:embed="rId2"/>
          <a:stretch>
            <a:fillRect/>
          </a:stretch>
        </p:blipFill>
        <p:spPr>
          <a:xfrm>
            <a:off x="544937" y="679837"/>
            <a:ext cx="2286000" cy="3753102"/>
          </a:xfrm>
          <a:prstGeom prst="rect">
            <a:avLst/>
          </a:prstGeom>
        </p:spPr>
      </p:pic>
      <p:sp>
        <p:nvSpPr>
          <p:cNvPr id="4" name="Rectangle 3">
            <a:extLst>
              <a:ext uri="{FF2B5EF4-FFF2-40B4-BE49-F238E27FC236}">
                <a16:creationId xmlns:a16="http://schemas.microsoft.com/office/drawing/2014/main" id="{5626182C-AB0C-CD8E-F5F5-83DA218B0C24}"/>
              </a:ext>
            </a:extLst>
          </p:cNvPr>
          <p:cNvSpPr/>
          <p:nvPr/>
        </p:nvSpPr>
        <p:spPr>
          <a:xfrm>
            <a:off x="2095884" y="5141065"/>
            <a:ext cx="4250872" cy="1015663"/>
          </a:xfrm>
          <a:prstGeom prst="rect">
            <a:avLst/>
          </a:prstGeom>
        </p:spPr>
        <p:txBody>
          <a:bodyPr wrap="square">
            <a:spAutoFit/>
          </a:bodyPr>
          <a:lstStyle/>
          <a:p>
            <a:pPr algn="ctr"/>
            <a:r>
              <a:rPr lang="en-US" sz="2000" dirty="0"/>
              <a:t>Name of the Student: Vaibhav L Gowda</a:t>
            </a:r>
          </a:p>
          <a:p>
            <a:pPr algn="ctr"/>
            <a:r>
              <a:rPr lang="en-US" sz="2000" dirty="0"/>
              <a:t>SRN No: PES1PG25CA238</a:t>
            </a:r>
          </a:p>
          <a:p>
            <a:pPr algn="ctr"/>
            <a:r>
              <a:rPr lang="en-US" sz="2000" dirty="0"/>
              <a:t>Section: D</a:t>
            </a:r>
            <a:endParaRPr lang="en-IN" sz="2000" dirty="0"/>
          </a:p>
        </p:txBody>
      </p:sp>
      <p:sp>
        <p:nvSpPr>
          <p:cNvPr id="6" name="Rectangle 5">
            <a:extLst>
              <a:ext uri="{FF2B5EF4-FFF2-40B4-BE49-F238E27FC236}">
                <a16:creationId xmlns:a16="http://schemas.microsoft.com/office/drawing/2014/main" id="{AC7EA2CE-33C9-98DA-453A-395940571FD5}"/>
              </a:ext>
            </a:extLst>
          </p:cNvPr>
          <p:cNvSpPr/>
          <p:nvPr/>
        </p:nvSpPr>
        <p:spPr>
          <a:xfrm>
            <a:off x="7581379" y="5110432"/>
            <a:ext cx="4250872" cy="707886"/>
          </a:xfrm>
          <a:prstGeom prst="rect">
            <a:avLst/>
          </a:prstGeom>
        </p:spPr>
        <p:txBody>
          <a:bodyPr wrap="square">
            <a:spAutoFit/>
          </a:bodyPr>
          <a:lstStyle/>
          <a:p>
            <a:pPr algn="ctr"/>
            <a:r>
              <a:rPr lang="en-US" sz="2000" dirty="0"/>
              <a:t>Project Guide : Asst. </a:t>
            </a:r>
            <a:r>
              <a:rPr lang="en-US" sz="2000" dirty="0" err="1"/>
              <a:t>Prof.Harshitha</a:t>
            </a:r>
            <a:r>
              <a:rPr lang="en-US" sz="2000" dirty="0"/>
              <a:t> M Department: Computer Applications</a:t>
            </a:r>
            <a:endParaRPr lang="en-IN" sz="2000" dirty="0"/>
          </a:p>
        </p:txBody>
      </p:sp>
      <p:sp>
        <p:nvSpPr>
          <p:cNvPr id="10" name="TextBox 9">
            <a:extLst>
              <a:ext uri="{FF2B5EF4-FFF2-40B4-BE49-F238E27FC236}">
                <a16:creationId xmlns:a16="http://schemas.microsoft.com/office/drawing/2014/main" id="{6CB90E31-B1FC-B027-E08B-886E4225F614}"/>
              </a:ext>
            </a:extLst>
          </p:cNvPr>
          <p:cNvSpPr txBox="1"/>
          <p:nvPr/>
        </p:nvSpPr>
        <p:spPr>
          <a:xfrm>
            <a:off x="4648856" y="2439079"/>
            <a:ext cx="6387019" cy="285421"/>
          </a:xfrm>
          <a:prstGeom prst="rect">
            <a:avLst/>
          </a:prstGeom>
          <a:noFill/>
        </p:spPr>
        <p:txBody>
          <a:bodyPr wrap="square" lIns="0" tIns="0" rIns="0" bIns="0" anchor="t">
            <a:spAutoFit/>
          </a:bodyPr>
          <a:lstStyle/>
          <a:p>
            <a:pPr algn="ctr">
              <a:lnSpc>
                <a:spcPts val="2400"/>
              </a:lnSpc>
            </a:pPr>
            <a:r>
              <a:rPr lang="en-IN" sz="1600" b="1" dirty="0">
                <a:solidFill>
                  <a:srgbClr val="64748B"/>
                </a:solidFill>
                <a:latin typeface="Inter"/>
              </a:rPr>
              <a:t>Intelligent Academic &amp; Smart Campus Collaboration Platform</a:t>
            </a:r>
            <a:endParaRPr sz="1600" b="1" i="0" u="none" dirty="0">
              <a:solidFill>
                <a:srgbClr val="64748B"/>
              </a:solidFill>
              <a:latin typeface="Inter"/>
            </a:endParaRPr>
          </a:p>
        </p:txBody>
      </p:sp>
      <p:sp>
        <p:nvSpPr>
          <p:cNvPr id="12" name="Slide Number Placeholder 11">
            <a:extLst>
              <a:ext uri="{FF2B5EF4-FFF2-40B4-BE49-F238E27FC236}">
                <a16:creationId xmlns:a16="http://schemas.microsoft.com/office/drawing/2014/main" id="{6533E388-21E1-C2E3-47A7-35EBAF612691}"/>
              </a:ext>
            </a:extLst>
          </p:cNvPr>
          <p:cNvSpPr>
            <a:spLocks noGrp="1"/>
          </p:cNvSpPr>
          <p:nvPr>
            <p:ph type="sldNum" sz="quarter" idx="12"/>
          </p:nvPr>
        </p:nvSpPr>
        <p:spPr>
          <a:xfrm>
            <a:off x="8610600" y="6375806"/>
            <a:ext cx="2743200" cy="365125"/>
          </a:xfrm>
        </p:spPr>
        <p:txBody>
          <a:bodyPr/>
          <a:lstStyle/>
          <a:p>
            <a:fld id="{D430BA08-B69C-4752-B2CF-0C56A0BACDE6}" type="slidenum">
              <a:rPr lang="en-IN" smtClean="0"/>
              <a:t>1</a:t>
            </a:fld>
            <a:endParaRPr lang="en-IN"/>
          </a:p>
        </p:txBody>
      </p:sp>
      <p:sp>
        <p:nvSpPr>
          <p:cNvPr id="13" name="Footer Placeholder 18">
            <a:extLst>
              <a:ext uri="{FF2B5EF4-FFF2-40B4-BE49-F238E27FC236}">
                <a16:creationId xmlns:a16="http://schemas.microsoft.com/office/drawing/2014/main" id="{4320DA64-113F-2D95-7336-65DA48289B46}"/>
              </a:ext>
            </a:extLst>
          </p:cNvPr>
          <p:cNvSpPr>
            <a:spLocks noGrp="1"/>
          </p:cNvSpPr>
          <p:nvPr>
            <p:ph type="ftr" sz="quarter" idx="11"/>
          </p:nvPr>
        </p:nvSpPr>
        <p:spPr>
          <a:xfrm>
            <a:off x="4038600" y="6356350"/>
            <a:ext cx="4114800" cy="365125"/>
          </a:xfrm>
        </p:spPr>
        <p:txBody>
          <a:bodyPr/>
          <a:lstStyle/>
          <a:p>
            <a:r>
              <a:rPr lang="en-US" sz="1600" dirty="0"/>
              <a:t>Department of Computer Applications</a:t>
            </a:r>
            <a:endParaRPr lang="en-IN" sz="1600" dirty="0"/>
          </a:p>
          <a:p>
            <a:endParaRPr lang="en-IN" sz="1600" dirty="0"/>
          </a:p>
        </p:txBody>
      </p:sp>
    </p:spTree>
    <p:extLst>
      <p:ext uri="{BB962C8B-B14F-4D97-AF65-F5344CB8AC3E}">
        <p14:creationId xmlns:p14="http://schemas.microsoft.com/office/powerpoint/2010/main" val="4176554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87008925-27BE-4F37-8F3C-D51A4CE1017D}"/>
              </a:ext>
            </a:extLst>
          </p:cNvPr>
          <p:cNvGrpSpPr/>
          <p:nvPr/>
        </p:nvGrpSpPr>
        <p:grpSpPr>
          <a:xfrm>
            <a:off x="313844" y="5489699"/>
            <a:ext cx="1066895" cy="1078155"/>
            <a:chOff x="313844" y="5489699"/>
            <a:chExt cx="1066895" cy="1078155"/>
          </a:xfrm>
          <a:solidFill>
            <a:schemeClr val="accent2">
              <a:lumMod val="60000"/>
              <a:lumOff val="40000"/>
            </a:schemeClr>
          </a:solidFill>
        </p:grpSpPr>
        <p:sp>
          <p:nvSpPr>
            <p:cNvPr id="24" name="Rectangle 23">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6" name="Straight Connector 15">
            <a:extLst>
              <a:ext uri="{FF2B5EF4-FFF2-40B4-BE49-F238E27FC236}">
                <a16:creationId xmlns:a16="http://schemas.microsoft.com/office/drawing/2014/main" id="{DD6B6443-C2DA-47C3-A986-5EE935046CC9}"/>
              </a:ext>
            </a:extLst>
          </p:cNvPr>
          <p:cNvCxnSpPr>
            <a:cxnSpLocks/>
          </p:cNvCxnSpPr>
          <p:nvPr/>
        </p:nvCxnSpPr>
        <p:spPr>
          <a:xfrm>
            <a:off x="0" y="2665359"/>
            <a:ext cx="7934960" cy="0"/>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18F0CA5F-3CF7-2A47-C062-DC51643ECBDA}"/>
              </a:ext>
            </a:extLst>
          </p:cNvPr>
          <p:cNvPicPr>
            <a:picLocks noChangeAspect="1"/>
          </p:cNvPicPr>
          <p:nvPr/>
        </p:nvPicPr>
        <p:blipFill>
          <a:blip r:embed="rId3"/>
          <a:stretch>
            <a:fillRect/>
          </a:stretch>
        </p:blipFill>
        <p:spPr>
          <a:xfrm>
            <a:off x="10743452" y="925596"/>
            <a:ext cx="849665" cy="1428531"/>
          </a:xfrm>
          <a:prstGeom prst="rect">
            <a:avLst/>
          </a:prstGeom>
        </p:spPr>
      </p:pic>
      <p:sp>
        <p:nvSpPr>
          <p:cNvPr id="4" name="TextBox 3">
            <a:extLst>
              <a:ext uri="{FF2B5EF4-FFF2-40B4-BE49-F238E27FC236}">
                <a16:creationId xmlns:a16="http://schemas.microsoft.com/office/drawing/2014/main" id="{0C36F0E7-01FC-B329-A041-B54349A703B0}"/>
              </a:ext>
            </a:extLst>
          </p:cNvPr>
          <p:cNvSpPr txBox="1"/>
          <p:nvPr/>
        </p:nvSpPr>
        <p:spPr>
          <a:xfrm>
            <a:off x="847291" y="1639862"/>
            <a:ext cx="8598266" cy="392415"/>
          </a:xfrm>
          <a:prstGeom prst="rect">
            <a:avLst/>
          </a:prstGeom>
          <a:noFill/>
        </p:spPr>
        <p:txBody>
          <a:bodyPr wrap="square" lIns="0" tIns="0" rIns="0" bIns="0" anchor="ctr">
            <a:spAutoFit/>
          </a:bodyPr>
          <a:lstStyle/>
          <a:p>
            <a:pPr algn="l"/>
            <a:r>
              <a:rPr sz="2550" b="1" i="0" u="none" dirty="0">
                <a:solidFill>
                  <a:srgbClr val="0B2545"/>
                </a:solidFill>
                <a:latin typeface="Poppins"/>
              </a:rPr>
              <a:t>Abstract</a:t>
            </a:r>
            <a:endParaRPr sz="2550" b="0" i="0" u="none" dirty="0">
              <a:solidFill>
                <a:srgbClr val="D9381E"/>
              </a:solidFill>
              <a:latin typeface="Poppins Medium"/>
            </a:endParaRPr>
          </a:p>
        </p:txBody>
      </p:sp>
      <p:sp>
        <p:nvSpPr>
          <p:cNvPr id="14" name="TextBox 13">
            <a:extLst>
              <a:ext uri="{FF2B5EF4-FFF2-40B4-BE49-F238E27FC236}">
                <a16:creationId xmlns:a16="http://schemas.microsoft.com/office/drawing/2014/main" id="{FF20A178-A15F-D141-9620-E9ECB94FB9EF}"/>
              </a:ext>
            </a:extLst>
          </p:cNvPr>
          <p:cNvSpPr txBox="1"/>
          <p:nvPr/>
        </p:nvSpPr>
        <p:spPr>
          <a:xfrm>
            <a:off x="407375" y="2756798"/>
            <a:ext cx="10131398" cy="3077766"/>
          </a:xfrm>
          <a:prstGeom prst="rect">
            <a:avLst/>
          </a:prstGeom>
          <a:noFill/>
        </p:spPr>
        <p:txBody>
          <a:bodyPr wrap="square" lIns="0" tIns="0" rIns="0" bIns="0" anchor="t">
            <a:spAutoFit/>
          </a:bodyPr>
          <a:lstStyle/>
          <a:p>
            <a:pPr algn="just"/>
            <a:r>
              <a:rPr lang="en-US" sz="2000" b="1" dirty="0"/>
              <a:t>Abstract</a:t>
            </a:r>
          </a:p>
          <a:p>
            <a:pPr algn="just"/>
            <a:r>
              <a:rPr lang="en-US" sz="2000" dirty="0" err="1"/>
              <a:t>UniSphere</a:t>
            </a:r>
            <a:r>
              <a:rPr lang="en-US" sz="2000" dirty="0"/>
              <a:t> AI is a cross-platform academic and smart campus collaboration system for students, faculty, club admins, and super admins. It brings doubt resolution, notes sharing, event and club management, lost-and-found, assignment integrity checking, study planning, and note summarization into a single application.</a:t>
            </a:r>
          </a:p>
          <a:p>
            <a:pPr algn="just"/>
            <a:r>
              <a:rPr lang="en-US" sz="2000" dirty="0"/>
              <a:t>The platform is built with Flutter on the front end, Spring Boot REST services on the back end, and Firebase (Authentication, </a:t>
            </a:r>
            <a:r>
              <a:rPr lang="en-US" sz="2000" dirty="0" err="1"/>
              <a:t>Firestore</a:t>
            </a:r>
            <a:r>
              <a:rPr lang="en-US" sz="2000" dirty="0"/>
              <a:t>, Cloud Storage, FCM) for data, security, and notifications. Its intelligence layer combines Jaccard-similarity matching with a hybrid recommendation engine. builds clash-free revision timetables from deadlines and events, and converts long notes into concise summaries and flashcards.</a:t>
            </a:r>
          </a:p>
        </p:txBody>
      </p:sp>
      <p:sp>
        <p:nvSpPr>
          <p:cNvPr id="19" name="Footer Placeholder 18">
            <a:extLst>
              <a:ext uri="{FF2B5EF4-FFF2-40B4-BE49-F238E27FC236}">
                <a16:creationId xmlns:a16="http://schemas.microsoft.com/office/drawing/2014/main" id="{9C793AEE-AE11-AFE3-9B93-77D1CBCF904C}"/>
              </a:ext>
            </a:extLst>
          </p:cNvPr>
          <p:cNvSpPr>
            <a:spLocks noGrp="1"/>
          </p:cNvSpPr>
          <p:nvPr>
            <p:ph type="ftr" sz="quarter" idx="11"/>
          </p:nvPr>
        </p:nvSpPr>
        <p:spPr>
          <a:xfrm>
            <a:off x="4038600" y="6336894"/>
            <a:ext cx="4114800" cy="365125"/>
          </a:xfrm>
        </p:spPr>
        <p:txBody>
          <a:bodyPr/>
          <a:lstStyle/>
          <a:p>
            <a:r>
              <a:rPr lang="en-US" sz="1600" dirty="0"/>
              <a:t>Department of Computer Applications</a:t>
            </a:r>
            <a:endParaRPr lang="en-IN" sz="1600" dirty="0"/>
          </a:p>
          <a:p>
            <a:endParaRPr lang="en-IN" sz="1600" dirty="0"/>
          </a:p>
        </p:txBody>
      </p:sp>
      <p:sp>
        <p:nvSpPr>
          <p:cNvPr id="21" name="Slide Number Placeholder 20">
            <a:extLst>
              <a:ext uri="{FF2B5EF4-FFF2-40B4-BE49-F238E27FC236}">
                <a16:creationId xmlns:a16="http://schemas.microsoft.com/office/drawing/2014/main" id="{DD9331E8-552D-5864-A6DA-AB7CA37C7832}"/>
              </a:ext>
            </a:extLst>
          </p:cNvPr>
          <p:cNvSpPr>
            <a:spLocks noGrp="1"/>
          </p:cNvSpPr>
          <p:nvPr>
            <p:ph type="sldNum" sz="quarter" idx="12"/>
          </p:nvPr>
        </p:nvSpPr>
        <p:spPr/>
        <p:txBody>
          <a:bodyPr/>
          <a:lstStyle/>
          <a:p>
            <a:fld id="{D430BA08-B69C-4752-B2CF-0C56A0BACDE6}" type="slidenum">
              <a:rPr lang="en-IN" smtClean="0"/>
              <a:t>2</a:t>
            </a:fld>
            <a:endParaRPr lang="en-IN"/>
          </a:p>
        </p:txBody>
      </p:sp>
    </p:spTree>
    <p:extLst>
      <p:ext uri="{BB962C8B-B14F-4D97-AF65-F5344CB8AC3E}">
        <p14:creationId xmlns:p14="http://schemas.microsoft.com/office/powerpoint/2010/main" val="2452794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51C44-F4C5-4C09-85FE-6481E94DA316}"/>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C1C6B3B2-9F65-52E3-A251-D780CADE8587}"/>
              </a:ext>
            </a:extLst>
          </p:cNvPr>
          <p:cNvGrpSpPr/>
          <p:nvPr/>
        </p:nvGrpSpPr>
        <p:grpSpPr>
          <a:xfrm>
            <a:off x="313844" y="5489699"/>
            <a:ext cx="1066895" cy="1078155"/>
            <a:chOff x="313844" y="5489699"/>
            <a:chExt cx="1066895" cy="1078155"/>
          </a:xfrm>
          <a:solidFill>
            <a:schemeClr val="accent2">
              <a:lumMod val="60000"/>
              <a:lumOff val="40000"/>
            </a:schemeClr>
          </a:solidFill>
        </p:grpSpPr>
        <p:sp>
          <p:nvSpPr>
            <p:cNvPr id="24" name="Rectangle 23">
              <a:extLst>
                <a:ext uri="{FF2B5EF4-FFF2-40B4-BE49-F238E27FC236}">
                  <a16:creationId xmlns:a16="http://schemas.microsoft.com/office/drawing/2014/main" id="{9C432CC2-5045-7123-6C0B-1CB880D550A3}"/>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294B981A-C350-F473-D661-B288FEDA2051}"/>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2" name="Picture 1">
            <a:extLst>
              <a:ext uri="{FF2B5EF4-FFF2-40B4-BE49-F238E27FC236}">
                <a16:creationId xmlns:a16="http://schemas.microsoft.com/office/drawing/2014/main" id="{76B32851-24DB-38D7-6DD8-12B98D7113BD}"/>
              </a:ext>
            </a:extLst>
          </p:cNvPr>
          <p:cNvPicPr>
            <a:picLocks noChangeAspect="1"/>
          </p:cNvPicPr>
          <p:nvPr/>
        </p:nvPicPr>
        <p:blipFill>
          <a:blip r:embed="rId3"/>
          <a:stretch>
            <a:fillRect/>
          </a:stretch>
        </p:blipFill>
        <p:spPr>
          <a:xfrm>
            <a:off x="10743452" y="407539"/>
            <a:ext cx="849665" cy="1428531"/>
          </a:xfrm>
          <a:prstGeom prst="rect">
            <a:avLst/>
          </a:prstGeom>
        </p:spPr>
      </p:pic>
      <p:sp>
        <p:nvSpPr>
          <p:cNvPr id="5" name="TextBox 4">
            <a:extLst>
              <a:ext uri="{FF2B5EF4-FFF2-40B4-BE49-F238E27FC236}">
                <a16:creationId xmlns:a16="http://schemas.microsoft.com/office/drawing/2014/main" id="{C5CDAFE2-FC19-7BE3-4AA9-E05CA28654D2}"/>
              </a:ext>
            </a:extLst>
          </p:cNvPr>
          <p:cNvSpPr txBox="1"/>
          <p:nvPr/>
        </p:nvSpPr>
        <p:spPr>
          <a:xfrm>
            <a:off x="590550" y="778262"/>
            <a:ext cx="11601450" cy="392415"/>
          </a:xfrm>
          <a:prstGeom prst="rect">
            <a:avLst/>
          </a:prstGeom>
          <a:noFill/>
        </p:spPr>
        <p:txBody>
          <a:bodyPr wrap="square" lIns="0" tIns="0" rIns="0" bIns="0" anchor="ctr">
            <a:spAutoFit/>
          </a:bodyPr>
          <a:lstStyle/>
          <a:p>
            <a:pPr algn="l"/>
            <a:r>
              <a:rPr sz="2550" b="1" i="0" u="none" dirty="0">
                <a:solidFill>
                  <a:srgbClr val="0B2545"/>
                </a:solidFill>
                <a:latin typeface="Poppins"/>
              </a:rPr>
              <a:t>Problem Scenario</a:t>
            </a:r>
            <a:endParaRPr sz="2550" b="0" i="0" u="none" dirty="0">
              <a:solidFill>
                <a:srgbClr val="D9381E"/>
              </a:solidFill>
              <a:latin typeface="Poppins Medium"/>
            </a:endParaRPr>
          </a:p>
        </p:txBody>
      </p:sp>
      <p:sp>
        <p:nvSpPr>
          <p:cNvPr id="14" name="Slide Number Placeholder 13">
            <a:extLst>
              <a:ext uri="{FF2B5EF4-FFF2-40B4-BE49-F238E27FC236}">
                <a16:creationId xmlns:a16="http://schemas.microsoft.com/office/drawing/2014/main" id="{7396E708-83C8-1AFD-A42A-03FA1A2A92BB}"/>
              </a:ext>
            </a:extLst>
          </p:cNvPr>
          <p:cNvSpPr>
            <a:spLocks noGrp="1"/>
          </p:cNvSpPr>
          <p:nvPr>
            <p:ph type="sldNum" sz="quarter" idx="12"/>
          </p:nvPr>
        </p:nvSpPr>
        <p:spPr/>
        <p:txBody>
          <a:bodyPr/>
          <a:lstStyle/>
          <a:p>
            <a:fld id="{D430BA08-B69C-4752-B2CF-0C56A0BACDE6}" type="slidenum">
              <a:rPr lang="en-IN" smtClean="0"/>
              <a:t>3</a:t>
            </a:fld>
            <a:endParaRPr lang="en-IN"/>
          </a:p>
        </p:txBody>
      </p:sp>
      <p:sp>
        <p:nvSpPr>
          <p:cNvPr id="16" name="Footer Placeholder 18">
            <a:extLst>
              <a:ext uri="{FF2B5EF4-FFF2-40B4-BE49-F238E27FC236}">
                <a16:creationId xmlns:a16="http://schemas.microsoft.com/office/drawing/2014/main" id="{930319A5-E218-8B6A-03ED-303E41A1D521}"/>
              </a:ext>
            </a:extLst>
          </p:cNvPr>
          <p:cNvSpPr>
            <a:spLocks noGrp="1"/>
          </p:cNvSpPr>
          <p:nvPr>
            <p:ph type="ftr" sz="quarter" idx="11"/>
          </p:nvPr>
        </p:nvSpPr>
        <p:spPr>
          <a:xfrm>
            <a:off x="4038600" y="6356350"/>
            <a:ext cx="4114800" cy="365125"/>
          </a:xfrm>
        </p:spPr>
        <p:txBody>
          <a:bodyPr/>
          <a:lstStyle/>
          <a:p>
            <a:r>
              <a:rPr lang="en-US" sz="1600" dirty="0"/>
              <a:t>Department of Computer Applications</a:t>
            </a:r>
            <a:endParaRPr lang="en-IN" sz="1600" dirty="0"/>
          </a:p>
          <a:p>
            <a:endParaRPr lang="en-IN" sz="1600" dirty="0"/>
          </a:p>
        </p:txBody>
      </p:sp>
      <p:sp>
        <p:nvSpPr>
          <p:cNvPr id="4" name="TextBox 3">
            <a:extLst>
              <a:ext uri="{FF2B5EF4-FFF2-40B4-BE49-F238E27FC236}">
                <a16:creationId xmlns:a16="http://schemas.microsoft.com/office/drawing/2014/main" id="{FBCF951A-0EBF-A2C3-9407-BD3D98A592A4}"/>
              </a:ext>
            </a:extLst>
          </p:cNvPr>
          <p:cNvSpPr txBox="1"/>
          <p:nvPr/>
        </p:nvSpPr>
        <p:spPr>
          <a:xfrm>
            <a:off x="590550" y="1541403"/>
            <a:ext cx="9372026" cy="4893647"/>
          </a:xfrm>
          <a:prstGeom prst="rect">
            <a:avLst/>
          </a:prstGeom>
          <a:noFill/>
        </p:spPr>
        <p:txBody>
          <a:bodyPr wrap="square">
            <a:spAutoFit/>
          </a:bodyPr>
          <a:lstStyle/>
          <a:p>
            <a:pPr algn="just" rtl="0">
              <a:buNone/>
            </a:pPr>
            <a:r>
              <a:rPr lang="en-US" sz="2400" b="1" dirty="0">
                <a:solidFill>
                  <a:schemeClr val="accent2"/>
                </a:solidFill>
              </a:rPr>
              <a:t>Problem 1: Scattered academic communication</a:t>
            </a:r>
          </a:p>
          <a:p>
            <a:pPr algn="just" rtl="0">
              <a:buNone/>
            </a:pPr>
            <a:r>
              <a:rPr lang="en-US" sz="2400" dirty="0"/>
              <a:t>Event announcements, notes, and doubts are spread across WhatsApp groups, notice boards, and email. Students miss important updates, doubts get buried in group chats, and study material is hard to find later.</a:t>
            </a:r>
          </a:p>
          <a:p>
            <a:pPr algn="just" rtl="0">
              <a:buNone/>
            </a:pPr>
            <a:endParaRPr lang="en-US" sz="2400" dirty="0"/>
          </a:p>
          <a:p>
            <a:pPr algn="just" rtl="0">
              <a:buNone/>
            </a:pPr>
            <a:r>
              <a:rPr lang="en-US" sz="2400" b="1" dirty="0"/>
              <a:t>Solution:</a:t>
            </a:r>
            <a:r>
              <a:rPr lang="en-US" sz="2400" dirty="0"/>
              <a:t> </a:t>
            </a:r>
            <a:r>
              <a:rPr lang="en-US" sz="2400" dirty="0" err="1"/>
              <a:t>UniSphere</a:t>
            </a:r>
            <a:r>
              <a:rPr lang="en-US" sz="2400" dirty="0"/>
              <a:t> AI provides one hub for doubts, notes, events, clubs, and assignments.</a:t>
            </a:r>
          </a:p>
          <a:p>
            <a:pPr algn="just" rtl="0">
              <a:buFont typeface="Arial" panose="020B0604020202020204" pitchFamily="34" charset="0"/>
              <a:buChar char="•"/>
            </a:pPr>
            <a:r>
              <a:rPr lang="en-US" sz="2400" dirty="0"/>
              <a:t>Doubts are posted with a subject tag and automatically routed to the most relevant peers or faculty.</a:t>
            </a:r>
          </a:p>
          <a:p>
            <a:pPr algn="just" rtl="0">
              <a:buFont typeface="Arial" panose="020B0604020202020204" pitchFamily="34" charset="0"/>
              <a:buChar char="•"/>
            </a:pPr>
            <a:r>
              <a:rPr lang="en-US" sz="2400" dirty="0"/>
              <a:t>Notes are stored in a searchable repository with hybrid recommendations.</a:t>
            </a:r>
          </a:p>
          <a:p>
            <a:pPr algn="just" rtl="0">
              <a:buFont typeface="Arial" panose="020B0604020202020204" pitchFamily="34" charset="0"/>
              <a:buChar char="•"/>
            </a:pPr>
            <a:r>
              <a:rPr lang="en-US" sz="2400" dirty="0"/>
              <a:t>Real-time push notifications deliver event, deadline, and reply alerts to the right users.</a:t>
            </a:r>
          </a:p>
        </p:txBody>
      </p:sp>
    </p:spTree>
    <p:extLst>
      <p:ext uri="{BB962C8B-B14F-4D97-AF65-F5344CB8AC3E}">
        <p14:creationId xmlns:p14="http://schemas.microsoft.com/office/powerpoint/2010/main" val="3935479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6319D-D43C-B07A-BCB5-D4A0D41FB4E6}"/>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8C668658-E430-AD2D-587B-6D3213CFDA3A}"/>
              </a:ext>
            </a:extLst>
          </p:cNvPr>
          <p:cNvGrpSpPr/>
          <p:nvPr/>
        </p:nvGrpSpPr>
        <p:grpSpPr>
          <a:xfrm>
            <a:off x="313844" y="5489699"/>
            <a:ext cx="1066895" cy="1078155"/>
            <a:chOff x="313844" y="5489699"/>
            <a:chExt cx="1066895" cy="1078155"/>
          </a:xfrm>
          <a:solidFill>
            <a:schemeClr val="accent2">
              <a:lumMod val="60000"/>
              <a:lumOff val="40000"/>
            </a:schemeClr>
          </a:solidFill>
        </p:grpSpPr>
        <p:sp>
          <p:nvSpPr>
            <p:cNvPr id="24" name="Rectangle 23">
              <a:extLst>
                <a:ext uri="{FF2B5EF4-FFF2-40B4-BE49-F238E27FC236}">
                  <a16:creationId xmlns:a16="http://schemas.microsoft.com/office/drawing/2014/main" id="{2B7B3689-37C8-EBFE-DC7A-886BEF4D8DB6}"/>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5E8BB6F0-8826-6E3A-D5C9-A9A83E3FE222}"/>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2" name="Picture 1">
            <a:extLst>
              <a:ext uri="{FF2B5EF4-FFF2-40B4-BE49-F238E27FC236}">
                <a16:creationId xmlns:a16="http://schemas.microsoft.com/office/drawing/2014/main" id="{F15C182D-9FE2-9807-266C-48D4362DC87A}"/>
              </a:ext>
            </a:extLst>
          </p:cNvPr>
          <p:cNvPicPr>
            <a:picLocks noChangeAspect="1"/>
          </p:cNvPicPr>
          <p:nvPr/>
        </p:nvPicPr>
        <p:blipFill>
          <a:blip r:embed="rId2"/>
          <a:stretch>
            <a:fillRect/>
          </a:stretch>
        </p:blipFill>
        <p:spPr>
          <a:xfrm>
            <a:off x="10743452" y="407539"/>
            <a:ext cx="849665" cy="1428531"/>
          </a:xfrm>
          <a:prstGeom prst="rect">
            <a:avLst/>
          </a:prstGeom>
        </p:spPr>
      </p:pic>
      <p:sp>
        <p:nvSpPr>
          <p:cNvPr id="5" name="TextBox 4">
            <a:extLst>
              <a:ext uri="{FF2B5EF4-FFF2-40B4-BE49-F238E27FC236}">
                <a16:creationId xmlns:a16="http://schemas.microsoft.com/office/drawing/2014/main" id="{E79B183A-FBC0-1FC9-80E0-2AA748713C61}"/>
              </a:ext>
            </a:extLst>
          </p:cNvPr>
          <p:cNvSpPr txBox="1"/>
          <p:nvPr/>
        </p:nvSpPr>
        <p:spPr>
          <a:xfrm>
            <a:off x="590550" y="778262"/>
            <a:ext cx="11601450" cy="392415"/>
          </a:xfrm>
          <a:prstGeom prst="rect">
            <a:avLst/>
          </a:prstGeom>
          <a:noFill/>
        </p:spPr>
        <p:txBody>
          <a:bodyPr wrap="square" lIns="0" tIns="0" rIns="0" bIns="0" anchor="ctr">
            <a:spAutoFit/>
          </a:bodyPr>
          <a:lstStyle/>
          <a:p>
            <a:pPr algn="l"/>
            <a:r>
              <a:rPr sz="2550" b="1" i="0" u="none" dirty="0">
                <a:solidFill>
                  <a:srgbClr val="0B2545"/>
                </a:solidFill>
                <a:latin typeface="Poppins"/>
              </a:rPr>
              <a:t>Problem Scenario</a:t>
            </a:r>
            <a:endParaRPr sz="2550" b="0" i="0" u="none" dirty="0">
              <a:solidFill>
                <a:srgbClr val="D9381E"/>
              </a:solidFill>
              <a:latin typeface="Poppins Medium"/>
            </a:endParaRPr>
          </a:p>
        </p:txBody>
      </p:sp>
      <p:sp>
        <p:nvSpPr>
          <p:cNvPr id="14" name="Slide Number Placeholder 13">
            <a:extLst>
              <a:ext uri="{FF2B5EF4-FFF2-40B4-BE49-F238E27FC236}">
                <a16:creationId xmlns:a16="http://schemas.microsoft.com/office/drawing/2014/main" id="{CD7FC0A4-9976-EA13-A607-2EDC02294EAF}"/>
              </a:ext>
            </a:extLst>
          </p:cNvPr>
          <p:cNvSpPr>
            <a:spLocks noGrp="1"/>
          </p:cNvSpPr>
          <p:nvPr>
            <p:ph type="sldNum" sz="quarter" idx="12"/>
          </p:nvPr>
        </p:nvSpPr>
        <p:spPr/>
        <p:txBody>
          <a:bodyPr/>
          <a:lstStyle/>
          <a:p>
            <a:fld id="{D430BA08-B69C-4752-B2CF-0C56A0BACDE6}" type="slidenum">
              <a:rPr lang="en-IN" smtClean="0"/>
              <a:t>4</a:t>
            </a:fld>
            <a:endParaRPr lang="en-IN"/>
          </a:p>
        </p:txBody>
      </p:sp>
      <p:sp>
        <p:nvSpPr>
          <p:cNvPr id="16" name="Footer Placeholder 18">
            <a:extLst>
              <a:ext uri="{FF2B5EF4-FFF2-40B4-BE49-F238E27FC236}">
                <a16:creationId xmlns:a16="http://schemas.microsoft.com/office/drawing/2014/main" id="{0D308E52-1052-D135-02E0-98F04DA372FE}"/>
              </a:ext>
            </a:extLst>
          </p:cNvPr>
          <p:cNvSpPr>
            <a:spLocks noGrp="1"/>
          </p:cNvSpPr>
          <p:nvPr>
            <p:ph type="ftr" sz="quarter" idx="11"/>
          </p:nvPr>
        </p:nvSpPr>
        <p:spPr>
          <a:xfrm>
            <a:off x="4038600" y="6356350"/>
            <a:ext cx="4114800" cy="365125"/>
          </a:xfrm>
        </p:spPr>
        <p:txBody>
          <a:bodyPr/>
          <a:lstStyle/>
          <a:p>
            <a:r>
              <a:rPr lang="en-US" sz="1600" dirty="0"/>
              <a:t>Department of Computer Applications</a:t>
            </a:r>
            <a:endParaRPr lang="en-IN" sz="1600" dirty="0"/>
          </a:p>
          <a:p>
            <a:endParaRPr lang="en-IN" sz="1600" dirty="0"/>
          </a:p>
        </p:txBody>
      </p:sp>
      <p:sp>
        <p:nvSpPr>
          <p:cNvPr id="4" name="TextBox 3">
            <a:extLst>
              <a:ext uri="{FF2B5EF4-FFF2-40B4-BE49-F238E27FC236}">
                <a16:creationId xmlns:a16="http://schemas.microsoft.com/office/drawing/2014/main" id="{954832E0-C799-D280-0B9E-A882251D267D}"/>
              </a:ext>
            </a:extLst>
          </p:cNvPr>
          <p:cNvSpPr txBox="1"/>
          <p:nvPr/>
        </p:nvSpPr>
        <p:spPr>
          <a:xfrm>
            <a:off x="598883" y="1582341"/>
            <a:ext cx="8549198" cy="4801314"/>
          </a:xfrm>
          <a:prstGeom prst="rect">
            <a:avLst/>
          </a:prstGeom>
          <a:noFill/>
        </p:spPr>
        <p:txBody>
          <a:bodyPr wrap="square">
            <a:spAutoFit/>
          </a:bodyPr>
          <a:lstStyle/>
          <a:p>
            <a:pPr algn="just"/>
            <a:r>
              <a:rPr lang="en-US" sz="2400" b="1" dirty="0">
                <a:solidFill>
                  <a:schemeClr val="accent2"/>
                </a:solidFill>
              </a:rPr>
              <a:t>Problem 2: No easy way to verify originality</a:t>
            </a:r>
          </a:p>
          <a:p>
            <a:pPr algn="just"/>
            <a:r>
              <a:rPr lang="en-US" sz="2400" dirty="0"/>
              <a:t>Faculty have no simple tool to check whether uploaded notes or submitted assignments are original. Manual checking is slow, inconsistent, and often skipped, which encourages copying.</a:t>
            </a:r>
          </a:p>
          <a:p>
            <a:pPr algn="just"/>
            <a:endParaRPr lang="en-US" sz="2400" dirty="0"/>
          </a:p>
          <a:p>
            <a:pPr algn="just"/>
            <a:r>
              <a:rPr lang="en-US" sz="2400" b="1" dirty="0"/>
              <a:t>Solution:</a:t>
            </a:r>
            <a:r>
              <a:rPr lang="en-US" sz="2400" dirty="0"/>
              <a:t> The Assignment &amp; Notes Integrity Checker compares each submission against existing ones using Jaccard similarity.</a:t>
            </a:r>
          </a:p>
          <a:p>
            <a:pPr algn="just"/>
            <a:r>
              <a:rPr lang="en-US" sz="2400" dirty="0"/>
              <a:t>Each submission gets a similarity score.</a:t>
            </a:r>
          </a:p>
          <a:p>
            <a:pPr algn="just"/>
            <a:r>
              <a:rPr lang="en-US" sz="2400" dirty="0"/>
              <a:t>Submissions above a tunable threshold are flagged as near-duplicates before grading.</a:t>
            </a:r>
          </a:p>
          <a:p>
            <a:pPr algn="just"/>
            <a:r>
              <a:rPr lang="en-US" sz="2400" dirty="0"/>
              <a:t>Faculty see which documents matched, so they can review and decide fairly.</a:t>
            </a:r>
          </a:p>
          <a:p>
            <a:pPr algn="just" rtl="0">
              <a:buNone/>
            </a:pPr>
            <a:endParaRPr lang="en-US" dirty="0"/>
          </a:p>
        </p:txBody>
      </p:sp>
    </p:spTree>
    <p:extLst>
      <p:ext uri="{BB962C8B-B14F-4D97-AF65-F5344CB8AC3E}">
        <p14:creationId xmlns:p14="http://schemas.microsoft.com/office/powerpoint/2010/main" val="1269497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026F4-0530-D6A9-9BA3-095E17F81199}"/>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56BACFBB-FECB-A424-2822-AFCF0E850A77}"/>
              </a:ext>
            </a:extLst>
          </p:cNvPr>
          <p:cNvGrpSpPr/>
          <p:nvPr/>
        </p:nvGrpSpPr>
        <p:grpSpPr>
          <a:xfrm>
            <a:off x="313844" y="5489699"/>
            <a:ext cx="1066895" cy="1078155"/>
            <a:chOff x="313844" y="5489699"/>
            <a:chExt cx="1066895" cy="1078155"/>
          </a:xfrm>
          <a:solidFill>
            <a:schemeClr val="accent2">
              <a:lumMod val="60000"/>
              <a:lumOff val="40000"/>
            </a:schemeClr>
          </a:solidFill>
        </p:grpSpPr>
        <p:sp>
          <p:nvSpPr>
            <p:cNvPr id="24" name="Rectangle 23">
              <a:extLst>
                <a:ext uri="{FF2B5EF4-FFF2-40B4-BE49-F238E27FC236}">
                  <a16:creationId xmlns:a16="http://schemas.microsoft.com/office/drawing/2014/main" id="{1955C292-7F11-DCA9-823F-9C79A048399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DAEB5F03-7D9C-9408-7DD4-59E1FD7DF588}"/>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2" name="Picture 1">
            <a:extLst>
              <a:ext uri="{FF2B5EF4-FFF2-40B4-BE49-F238E27FC236}">
                <a16:creationId xmlns:a16="http://schemas.microsoft.com/office/drawing/2014/main" id="{C1DC2BA8-6EAF-9720-8A84-9E092DA64716}"/>
              </a:ext>
            </a:extLst>
          </p:cNvPr>
          <p:cNvPicPr>
            <a:picLocks noChangeAspect="1"/>
          </p:cNvPicPr>
          <p:nvPr/>
        </p:nvPicPr>
        <p:blipFill>
          <a:blip r:embed="rId2"/>
          <a:stretch>
            <a:fillRect/>
          </a:stretch>
        </p:blipFill>
        <p:spPr>
          <a:xfrm>
            <a:off x="10743452" y="407539"/>
            <a:ext cx="849665" cy="1428531"/>
          </a:xfrm>
          <a:prstGeom prst="rect">
            <a:avLst/>
          </a:prstGeom>
        </p:spPr>
      </p:pic>
      <p:sp>
        <p:nvSpPr>
          <p:cNvPr id="5" name="TextBox 4">
            <a:extLst>
              <a:ext uri="{FF2B5EF4-FFF2-40B4-BE49-F238E27FC236}">
                <a16:creationId xmlns:a16="http://schemas.microsoft.com/office/drawing/2014/main" id="{9092AD06-5C59-5880-4371-96C0A14DA411}"/>
              </a:ext>
            </a:extLst>
          </p:cNvPr>
          <p:cNvSpPr txBox="1"/>
          <p:nvPr/>
        </p:nvSpPr>
        <p:spPr>
          <a:xfrm>
            <a:off x="590550" y="778262"/>
            <a:ext cx="11601450" cy="392415"/>
          </a:xfrm>
          <a:prstGeom prst="rect">
            <a:avLst/>
          </a:prstGeom>
          <a:noFill/>
        </p:spPr>
        <p:txBody>
          <a:bodyPr wrap="square" lIns="0" tIns="0" rIns="0" bIns="0" anchor="ctr">
            <a:spAutoFit/>
          </a:bodyPr>
          <a:lstStyle/>
          <a:p>
            <a:pPr algn="l"/>
            <a:r>
              <a:rPr sz="2550" b="1" i="0" u="none" dirty="0">
                <a:solidFill>
                  <a:srgbClr val="0B2545"/>
                </a:solidFill>
                <a:latin typeface="Poppins"/>
              </a:rPr>
              <a:t>Problem Scenario</a:t>
            </a:r>
            <a:endParaRPr sz="2550" b="0" i="0" u="none" dirty="0">
              <a:solidFill>
                <a:srgbClr val="D9381E"/>
              </a:solidFill>
              <a:latin typeface="Poppins Medium"/>
            </a:endParaRPr>
          </a:p>
        </p:txBody>
      </p:sp>
      <p:sp>
        <p:nvSpPr>
          <p:cNvPr id="14" name="Slide Number Placeholder 13">
            <a:extLst>
              <a:ext uri="{FF2B5EF4-FFF2-40B4-BE49-F238E27FC236}">
                <a16:creationId xmlns:a16="http://schemas.microsoft.com/office/drawing/2014/main" id="{2D38065C-8CE5-0C07-62C7-56362276B504}"/>
              </a:ext>
            </a:extLst>
          </p:cNvPr>
          <p:cNvSpPr>
            <a:spLocks noGrp="1"/>
          </p:cNvSpPr>
          <p:nvPr>
            <p:ph type="sldNum" sz="quarter" idx="12"/>
          </p:nvPr>
        </p:nvSpPr>
        <p:spPr/>
        <p:txBody>
          <a:bodyPr/>
          <a:lstStyle/>
          <a:p>
            <a:fld id="{D430BA08-B69C-4752-B2CF-0C56A0BACDE6}" type="slidenum">
              <a:rPr lang="en-IN" smtClean="0"/>
              <a:t>5</a:t>
            </a:fld>
            <a:endParaRPr lang="en-IN"/>
          </a:p>
        </p:txBody>
      </p:sp>
      <p:sp>
        <p:nvSpPr>
          <p:cNvPr id="16" name="Footer Placeholder 18">
            <a:extLst>
              <a:ext uri="{FF2B5EF4-FFF2-40B4-BE49-F238E27FC236}">
                <a16:creationId xmlns:a16="http://schemas.microsoft.com/office/drawing/2014/main" id="{FEDA4FFC-58F9-7385-7B65-32C347D7ACE2}"/>
              </a:ext>
            </a:extLst>
          </p:cNvPr>
          <p:cNvSpPr>
            <a:spLocks noGrp="1"/>
          </p:cNvSpPr>
          <p:nvPr>
            <p:ph type="ftr" sz="quarter" idx="11"/>
          </p:nvPr>
        </p:nvSpPr>
        <p:spPr>
          <a:xfrm>
            <a:off x="4038600" y="6356350"/>
            <a:ext cx="4114800" cy="365125"/>
          </a:xfrm>
        </p:spPr>
        <p:txBody>
          <a:bodyPr/>
          <a:lstStyle/>
          <a:p>
            <a:r>
              <a:rPr lang="en-US" sz="1600" dirty="0"/>
              <a:t>Department of Computer Applications</a:t>
            </a:r>
            <a:endParaRPr lang="en-IN" sz="1600" dirty="0"/>
          </a:p>
          <a:p>
            <a:endParaRPr lang="en-IN" sz="1600" dirty="0"/>
          </a:p>
        </p:txBody>
      </p:sp>
      <p:sp>
        <p:nvSpPr>
          <p:cNvPr id="4" name="TextBox 3">
            <a:extLst>
              <a:ext uri="{FF2B5EF4-FFF2-40B4-BE49-F238E27FC236}">
                <a16:creationId xmlns:a16="http://schemas.microsoft.com/office/drawing/2014/main" id="{E3AA0E27-D4AB-4600-6C10-0B5D2171EEC8}"/>
              </a:ext>
            </a:extLst>
          </p:cNvPr>
          <p:cNvSpPr txBox="1"/>
          <p:nvPr/>
        </p:nvSpPr>
        <p:spPr>
          <a:xfrm>
            <a:off x="598883" y="1582341"/>
            <a:ext cx="8549198" cy="4431983"/>
          </a:xfrm>
          <a:prstGeom prst="rect">
            <a:avLst/>
          </a:prstGeom>
          <a:noFill/>
        </p:spPr>
        <p:txBody>
          <a:bodyPr wrap="square">
            <a:spAutoFit/>
          </a:bodyPr>
          <a:lstStyle/>
          <a:p>
            <a:r>
              <a:rPr lang="en-US" sz="2400" b="1" dirty="0"/>
              <a:t>Problem 3: Poor revision planning and information overload</a:t>
            </a:r>
          </a:p>
          <a:p>
            <a:r>
              <a:rPr lang="en-US" sz="2400" b="1" dirty="0"/>
              <a:t>Problem:</a:t>
            </a:r>
            <a:r>
              <a:rPr lang="en-US" sz="2400" dirty="0"/>
              <a:t> Students juggle assignment deadlines, exams, and campus events without a unified schedule, so their revision plans clash. Long lecture notes are also time-consuming to revise from, especially close to exams.</a:t>
            </a:r>
          </a:p>
          <a:p>
            <a:r>
              <a:rPr lang="en-US" sz="2400" b="1" dirty="0"/>
              <a:t>Solution:</a:t>
            </a:r>
            <a:r>
              <a:rPr lang="en-US" sz="2400" dirty="0"/>
              <a:t> Two modules address this.</a:t>
            </a:r>
          </a:p>
          <a:p>
            <a:r>
              <a:rPr lang="en-US" sz="2400" dirty="0"/>
              <a:t>The Smart Study Planner reads deadlines, exams, and registered events and auto-generates a clash-free revision timetable.</a:t>
            </a:r>
          </a:p>
          <a:p>
            <a:r>
              <a:rPr lang="en-US" sz="2400" dirty="0"/>
              <a:t>The Notes Summarizer &amp; Auto-Flashcard Generator turns long uploaded notes into concise summaries and flashcards for quick revision.</a:t>
            </a:r>
          </a:p>
          <a:p>
            <a:pPr rtl="0">
              <a:buNone/>
            </a:pPr>
            <a:endParaRPr lang="en-US" dirty="0"/>
          </a:p>
        </p:txBody>
      </p:sp>
    </p:spTree>
    <p:extLst>
      <p:ext uri="{BB962C8B-B14F-4D97-AF65-F5344CB8AC3E}">
        <p14:creationId xmlns:p14="http://schemas.microsoft.com/office/powerpoint/2010/main" val="76033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7566A-8D6F-8780-A895-AF192BB0734F}"/>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2220A113-E01E-F636-BA3B-AEA0AE2F1E2E}"/>
              </a:ext>
            </a:extLst>
          </p:cNvPr>
          <p:cNvGrpSpPr/>
          <p:nvPr/>
        </p:nvGrpSpPr>
        <p:grpSpPr>
          <a:xfrm>
            <a:off x="313844" y="5489699"/>
            <a:ext cx="1066895" cy="1078155"/>
            <a:chOff x="313844" y="5489699"/>
            <a:chExt cx="1066895" cy="1078155"/>
          </a:xfrm>
          <a:solidFill>
            <a:schemeClr val="accent2">
              <a:lumMod val="60000"/>
              <a:lumOff val="40000"/>
            </a:schemeClr>
          </a:solidFill>
        </p:grpSpPr>
        <p:sp>
          <p:nvSpPr>
            <p:cNvPr id="24" name="Rectangle 23">
              <a:extLst>
                <a:ext uri="{FF2B5EF4-FFF2-40B4-BE49-F238E27FC236}">
                  <a16:creationId xmlns:a16="http://schemas.microsoft.com/office/drawing/2014/main" id="{81D81DA3-A7C1-D752-8A83-3DCE510BF77B}"/>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E428D511-D15C-BF96-1B08-449C704F26AB}"/>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2" name="Picture 1">
            <a:extLst>
              <a:ext uri="{FF2B5EF4-FFF2-40B4-BE49-F238E27FC236}">
                <a16:creationId xmlns:a16="http://schemas.microsoft.com/office/drawing/2014/main" id="{2D7D3421-6CBE-1F4C-246A-3AE56BE2A541}"/>
              </a:ext>
            </a:extLst>
          </p:cNvPr>
          <p:cNvPicPr>
            <a:picLocks noChangeAspect="1"/>
          </p:cNvPicPr>
          <p:nvPr/>
        </p:nvPicPr>
        <p:blipFill>
          <a:blip r:embed="rId2"/>
          <a:stretch>
            <a:fillRect/>
          </a:stretch>
        </p:blipFill>
        <p:spPr>
          <a:xfrm>
            <a:off x="10743452" y="407539"/>
            <a:ext cx="849665" cy="1428531"/>
          </a:xfrm>
          <a:prstGeom prst="rect">
            <a:avLst/>
          </a:prstGeom>
        </p:spPr>
      </p:pic>
      <p:sp>
        <p:nvSpPr>
          <p:cNvPr id="5" name="TextBox 4">
            <a:extLst>
              <a:ext uri="{FF2B5EF4-FFF2-40B4-BE49-F238E27FC236}">
                <a16:creationId xmlns:a16="http://schemas.microsoft.com/office/drawing/2014/main" id="{10387370-E244-4E1F-4FFB-1935F8FA8E02}"/>
              </a:ext>
            </a:extLst>
          </p:cNvPr>
          <p:cNvSpPr txBox="1"/>
          <p:nvPr/>
        </p:nvSpPr>
        <p:spPr>
          <a:xfrm>
            <a:off x="623208" y="778262"/>
            <a:ext cx="11601450" cy="392415"/>
          </a:xfrm>
          <a:prstGeom prst="rect">
            <a:avLst/>
          </a:prstGeom>
          <a:noFill/>
        </p:spPr>
        <p:txBody>
          <a:bodyPr wrap="square" lIns="0" tIns="0" rIns="0" bIns="0" anchor="ctr">
            <a:spAutoFit/>
          </a:bodyPr>
          <a:lstStyle/>
          <a:p>
            <a:pPr algn="l"/>
            <a:r>
              <a:rPr lang="en-IN" sz="2550" b="1" dirty="0">
                <a:solidFill>
                  <a:srgbClr val="0B2545"/>
                </a:solidFill>
                <a:latin typeface="Poppins"/>
              </a:rPr>
              <a:t>M</a:t>
            </a:r>
            <a:r>
              <a:rPr sz="2550" b="1" i="0" u="none" dirty="0">
                <a:solidFill>
                  <a:srgbClr val="0B2545"/>
                </a:solidFill>
                <a:latin typeface="Poppins"/>
              </a:rPr>
              <a:t>o</a:t>
            </a:r>
            <a:r>
              <a:rPr lang="en-IN" sz="2550" b="1" i="0" u="none" dirty="0" err="1">
                <a:solidFill>
                  <a:srgbClr val="0B2545"/>
                </a:solidFill>
                <a:latin typeface="Poppins"/>
              </a:rPr>
              <a:t>tivation</a:t>
            </a:r>
            <a:r>
              <a:rPr lang="en-IN" sz="2550" b="1" i="0" u="none" dirty="0">
                <a:solidFill>
                  <a:srgbClr val="0B2545"/>
                </a:solidFill>
                <a:latin typeface="Poppins"/>
              </a:rPr>
              <a:t> for Selecting the Project</a:t>
            </a:r>
            <a:endParaRPr sz="2550" b="0" i="0" u="none" dirty="0">
              <a:solidFill>
                <a:srgbClr val="D9381E"/>
              </a:solidFill>
              <a:latin typeface="Poppins Medium"/>
            </a:endParaRPr>
          </a:p>
        </p:txBody>
      </p:sp>
      <p:sp>
        <p:nvSpPr>
          <p:cNvPr id="14" name="Slide Number Placeholder 13">
            <a:extLst>
              <a:ext uri="{FF2B5EF4-FFF2-40B4-BE49-F238E27FC236}">
                <a16:creationId xmlns:a16="http://schemas.microsoft.com/office/drawing/2014/main" id="{050D41B4-5F46-8782-743A-B8C8C6E38C7F}"/>
              </a:ext>
            </a:extLst>
          </p:cNvPr>
          <p:cNvSpPr>
            <a:spLocks noGrp="1"/>
          </p:cNvSpPr>
          <p:nvPr>
            <p:ph type="sldNum" sz="quarter" idx="12"/>
          </p:nvPr>
        </p:nvSpPr>
        <p:spPr/>
        <p:txBody>
          <a:bodyPr/>
          <a:lstStyle/>
          <a:p>
            <a:fld id="{D430BA08-B69C-4752-B2CF-0C56A0BACDE6}" type="slidenum">
              <a:rPr lang="en-IN" smtClean="0"/>
              <a:t>6</a:t>
            </a:fld>
            <a:endParaRPr lang="en-IN"/>
          </a:p>
        </p:txBody>
      </p:sp>
      <p:sp>
        <p:nvSpPr>
          <p:cNvPr id="16" name="Footer Placeholder 18">
            <a:extLst>
              <a:ext uri="{FF2B5EF4-FFF2-40B4-BE49-F238E27FC236}">
                <a16:creationId xmlns:a16="http://schemas.microsoft.com/office/drawing/2014/main" id="{2DDC22D1-8826-B8FE-ADDB-9093D45285F9}"/>
              </a:ext>
            </a:extLst>
          </p:cNvPr>
          <p:cNvSpPr>
            <a:spLocks noGrp="1"/>
          </p:cNvSpPr>
          <p:nvPr>
            <p:ph type="ftr" sz="quarter" idx="11"/>
          </p:nvPr>
        </p:nvSpPr>
        <p:spPr>
          <a:xfrm>
            <a:off x="4038600" y="6356350"/>
            <a:ext cx="4114800" cy="365125"/>
          </a:xfrm>
        </p:spPr>
        <p:txBody>
          <a:bodyPr/>
          <a:lstStyle/>
          <a:p>
            <a:r>
              <a:rPr lang="en-US" sz="1600" dirty="0"/>
              <a:t>Department of Computer Applications</a:t>
            </a:r>
            <a:endParaRPr lang="en-IN" sz="1600" dirty="0"/>
          </a:p>
          <a:p>
            <a:endParaRPr lang="en-IN" sz="1600" dirty="0"/>
          </a:p>
        </p:txBody>
      </p:sp>
      <p:sp>
        <p:nvSpPr>
          <p:cNvPr id="4" name="TextBox 3">
            <a:extLst>
              <a:ext uri="{FF2B5EF4-FFF2-40B4-BE49-F238E27FC236}">
                <a16:creationId xmlns:a16="http://schemas.microsoft.com/office/drawing/2014/main" id="{2D1C3F1E-7FA8-2980-F584-37461A841CDB}"/>
              </a:ext>
            </a:extLst>
          </p:cNvPr>
          <p:cNvSpPr txBox="1"/>
          <p:nvPr/>
        </p:nvSpPr>
        <p:spPr>
          <a:xfrm>
            <a:off x="598883" y="1582341"/>
            <a:ext cx="8549198" cy="369332"/>
          </a:xfrm>
          <a:prstGeom prst="rect">
            <a:avLst/>
          </a:prstGeom>
          <a:noFill/>
        </p:spPr>
        <p:txBody>
          <a:bodyPr wrap="square">
            <a:spAutoFit/>
          </a:bodyPr>
          <a:lstStyle/>
          <a:p>
            <a:pPr rtl="0">
              <a:buNone/>
            </a:pPr>
            <a:endParaRPr lang="en-US" dirty="0"/>
          </a:p>
        </p:txBody>
      </p:sp>
      <p:sp>
        <p:nvSpPr>
          <p:cNvPr id="7" name="TextBox 6">
            <a:extLst>
              <a:ext uri="{FF2B5EF4-FFF2-40B4-BE49-F238E27FC236}">
                <a16:creationId xmlns:a16="http://schemas.microsoft.com/office/drawing/2014/main" id="{4AD6A31A-C9C1-CFBF-E3C9-B3E36B439B34}"/>
              </a:ext>
            </a:extLst>
          </p:cNvPr>
          <p:cNvSpPr txBox="1"/>
          <p:nvPr/>
        </p:nvSpPr>
        <p:spPr>
          <a:xfrm>
            <a:off x="359563" y="1402138"/>
            <a:ext cx="10246729" cy="378565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Academic integrity:</a:t>
            </a:r>
            <a:r>
              <a:rPr kumimoji="0" lang="en-US" altLang="en-US" sz="2000" b="0" i="0" u="none" strike="noStrike" cap="none" normalizeH="0" baseline="0" dirty="0">
                <a:ln>
                  <a:noFill/>
                </a:ln>
                <a:solidFill>
                  <a:schemeClr val="tx1"/>
                </a:solidFill>
                <a:effectLst/>
                <a:latin typeface="Arial" panose="020B0604020202020204" pitchFamily="34" charset="0"/>
              </a:rPr>
              <a:t> Faculty need a fair, objective way to detect copied work, and students benefit from a culture where original work is recognized. </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Efficient use of AI:</a:t>
            </a:r>
            <a:r>
              <a:rPr kumimoji="0" lang="en-US" altLang="en-US" sz="2000" b="0" i="0" u="none" strike="noStrike" cap="none" normalizeH="0" baseline="0" dirty="0">
                <a:ln>
                  <a:noFill/>
                </a:ln>
                <a:solidFill>
                  <a:schemeClr val="tx1"/>
                </a:solidFill>
                <a:effectLst/>
                <a:latin typeface="Arial" panose="020B0604020202020204" pitchFamily="34" charset="0"/>
              </a:rPr>
              <a:t> One similarity and recommendation core powers doubt routing, plagiarism flags, study plans, and note summaries, giving many features for little extra engineering. </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Benefits every role:</a:t>
            </a:r>
            <a:r>
              <a:rPr kumimoji="0" lang="en-US" altLang="en-US" sz="2000" b="0" i="0" u="none" strike="noStrike" cap="none" normalizeH="0" baseline="0" dirty="0">
                <a:ln>
                  <a:noFill/>
                </a:ln>
                <a:solidFill>
                  <a:schemeClr val="tx1"/>
                </a:solidFill>
                <a:effectLst/>
                <a:latin typeface="Arial" panose="020B0604020202020204" pitchFamily="34" charset="0"/>
              </a:rPr>
              <a:t> Students get help and planning, faculty get originality checks and less administrative load, and admins get analytics and control. </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Scalable and practical:</a:t>
            </a:r>
            <a:r>
              <a:rPr kumimoji="0" lang="en-US" altLang="en-US" sz="2000" b="0" i="0" u="none" strike="noStrike" cap="none" normalizeH="0" baseline="0" dirty="0">
                <a:ln>
                  <a:noFill/>
                </a:ln>
                <a:solidFill>
                  <a:schemeClr val="tx1"/>
                </a:solidFill>
                <a:effectLst/>
                <a:latin typeface="Arial" panose="020B0604020202020204" pitchFamily="34" charset="0"/>
              </a:rPr>
              <a:t> The Flutter, Spring Boot, and Firebase stack supports real-time updates, secure authentication, and campus-wide rollout. </a:t>
            </a:r>
          </a:p>
        </p:txBody>
      </p:sp>
    </p:spTree>
    <p:extLst>
      <p:ext uri="{BB962C8B-B14F-4D97-AF65-F5344CB8AC3E}">
        <p14:creationId xmlns:p14="http://schemas.microsoft.com/office/powerpoint/2010/main" val="3430438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B030B-A2ED-15A8-B79B-E29891A454BC}"/>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3C7BA93F-89FF-B514-853A-8F844DF2717B}"/>
              </a:ext>
            </a:extLst>
          </p:cNvPr>
          <p:cNvGrpSpPr/>
          <p:nvPr/>
        </p:nvGrpSpPr>
        <p:grpSpPr>
          <a:xfrm>
            <a:off x="313844" y="5489699"/>
            <a:ext cx="1066895" cy="1078155"/>
            <a:chOff x="313844" y="5489699"/>
            <a:chExt cx="1066895" cy="1078155"/>
          </a:xfrm>
          <a:solidFill>
            <a:schemeClr val="accent2">
              <a:lumMod val="60000"/>
              <a:lumOff val="40000"/>
            </a:schemeClr>
          </a:solidFill>
        </p:grpSpPr>
        <p:sp>
          <p:nvSpPr>
            <p:cNvPr id="24" name="Rectangle 23">
              <a:extLst>
                <a:ext uri="{FF2B5EF4-FFF2-40B4-BE49-F238E27FC236}">
                  <a16:creationId xmlns:a16="http://schemas.microsoft.com/office/drawing/2014/main" id="{4FE82BF8-3527-82B2-7E96-03E38E88E13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F115A97D-D53B-B38D-2CAC-C81661CD47E4}"/>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2" name="Picture 1">
            <a:extLst>
              <a:ext uri="{FF2B5EF4-FFF2-40B4-BE49-F238E27FC236}">
                <a16:creationId xmlns:a16="http://schemas.microsoft.com/office/drawing/2014/main" id="{617465E0-F92E-EBBB-60D3-B5A88FCBC15A}"/>
              </a:ext>
            </a:extLst>
          </p:cNvPr>
          <p:cNvPicPr>
            <a:picLocks noChangeAspect="1"/>
          </p:cNvPicPr>
          <p:nvPr/>
        </p:nvPicPr>
        <p:blipFill>
          <a:blip r:embed="rId2"/>
          <a:stretch>
            <a:fillRect/>
          </a:stretch>
        </p:blipFill>
        <p:spPr>
          <a:xfrm>
            <a:off x="10743452" y="407539"/>
            <a:ext cx="849665" cy="1428531"/>
          </a:xfrm>
          <a:prstGeom prst="rect">
            <a:avLst/>
          </a:prstGeom>
        </p:spPr>
      </p:pic>
      <p:sp>
        <p:nvSpPr>
          <p:cNvPr id="5" name="TextBox 4">
            <a:extLst>
              <a:ext uri="{FF2B5EF4-FFF2-40B4-BE49-F238E27FC236}">
                <a16:creationId xmlns:a16="http://schemas.microsoft.com/office/drawing/2014/main" id="{032A5196-176C-50B0-9599-763D6AB3AB91}"/>
              </a:ext>
            </a:extLst>
          </p:cNvPr>
          <p:cNvSpPr txBox="1"/>
          <p:nvPr/>
        </p:nvSpPr>
        <p:spPr>
          <a:xfrm>
            <a:off x="623208" y="778262"/>
            <a:ext cx="11601450" cy="392415"/>
          </a:xfrm>
          <a:prstGeom prst="rect">
            <a:avLst/>
          </a:prstGeom>
          <a:noFill/>
        </p:spPr>
        <p:txBody>
          <a:bodyPr wrap="square" lIns="0" tIns="0" rIns="0" bIns="0" anchor="ctr">
            <a:spAutoFit/>
          </a:bodyPr>
          <a:lstStyle/>
          <a:p>
            <a:pPr algn="l"/>
            <a:r>
              <a:rPr lang="en-IN" sz="2550" b="1" i="0" u="none" dirty="0">
                <a:solidFill>
                  <a:srgbClr val="0B2545"/>
                </a:solidFill>
                <a:latin typeface="Poppins"/>
              </a:rPr>
              <a:t>Functionalities</a:t>
            </a:r>
            <a:endParaRPr sz="2550" b="0" i="0" u="none" dirty="0">
              <a:solidFill>
                <a:srgbClr val="D9381E"/>
              </a:solidFill>
              <a:latin typeface="Poppins Medium"/>
            </a:endParaRPr>
          </a:p>
        </p:txBody>
      </p:sp>
      <p:sp>
        <p:nvSpPr>
          <p:cNvPr id="14" name="Slide Number Placeholder 13">
            <a:extLst>
              <a:ext uri="{FF2B5EF4-FFF2-40B4-BE49-F238E27FC236}">
                <a16:creationId xmlns:a16="http://schemas.microsoft.com/office/drawing/2014/main" id="{D6CF00DA-9E6C-F7D5-9088-93F440B015F1}"/>
              </a:ext>
            </a:extLst>
          </p:cNvPr>
          <p:cNvSpPr>
            <a:spLocks noGrp="1"/>
          </p:cNvSpPr>
          <p:nvPr>
            <p:ph type="sldNum" sz="quarter" idx="12"/>
          </p:nvPr>
        </p:nvSpPr>
        <p:spPr/>
        <p:txBody>
          <a:bodyPr/>
          <a:lstStyle/>
          <a:p>
            <a:fld id="{D430BA08-B69C-4752-B2CF-0C56A0BACDE6}" type="slidenum">
              <a:rPr lang="en-IN" smtClean="0"/>
              <a:t>7</a:t>
            </a:fld>
            <a:endParaRPr lang="en-IN"/>
          </a:p>
        </p:txBody>
      </p:sp>
      <p:sp>
        <p:nvSpPr>
          <p:cNvPr id="16" name="Footer Placeholder 18">
            <a:extLst>
              <a:ext uri="{FF2B5EF4-FFF2-40B4-BE49-F238E27FC236}">
                <a16:creationId xmlns:a16="http://schemas.microsoft.com/office/drawing/2014/main" id="{C2B2E1EF-5720-E453-E0F4-1ABD02645F78}"/>
              </a:ext>
            </a:extLst>
          </p:cNvPr>
          <p:cNvSpPr>
            <a:spLocks noGrp="1"/>
          </p:cNvSpPr>
          <p:nvPr>
            <p:ph type="ftr" sz="quarter" idx="11"/>
          </p:nvPr>
        </p:nvSpPr>
        <p:spPr>
          <a:xfrm>
            <a:off x="4038600" y="6356350"/>
            <a:ext cx="4114800" cy="365125"/>
          </a:xfrm>
        </p:spPr>
        <p:txBody>
          <a:bodyPr/>
          <a:lstStyle/>
          <a:p>
            <a:r>
              <a:rPr lang="en-US" sz="1600" dirty="0"/>
              <a:t>Department of Computer Applications</a:t>
            </a:r>
            <a:endParaRPr lang="en-IN" sz="1600" dirty="0"/>
          </a:p>
          <a:p>
            <a:endParaRPr lang="en-IN" sz="1600" dirty="0"/>
          </a:p>
        </p:txBody>
      </p:sp>
      <p:sp>
        <p:nvSpPr>
          <p:cNvPr id="4" name="TextBox 3">
            <a:extLst>
              <a:ext uri="{FF2B5EF4-FFF2-40B4-BE49-F238E27FC236}">
                <a16:creationId xmlns:a16="http://schemas.microsoft.com/office/drawing/2014/main" id="{6AD7B93C-355E-D191-DE74-FD5530AED349}"/>
              </a:ext>
            </a:extLst>
          </p:cNvPr>
          <p:cNvSpPr txBox="1"/>
          <p:nvPr/>
        </p:nvSpPr>
        <p:spPr>
          <a:xfrm>
            <a:off x="598883" y="1582341"/>
            <a:ext cx="8549198" cy="369332"/>
          </a:xfrm>
          <a:prstGeom prst="rect">
            <a:avLst/>
          </a:prstGeom>
          <a:noFill/>
        </p:spPr>
        <p:txBody>
          <a:bodyPr wrap="square">
            <a:spAutoFit/>
          </a:bodyPr>
          <a:lstStyle/>
          <a:p>
            <a:pPr rtl="0">
              <a:buNone/>
            </a:pPr>
            <a:endParaRPr lang="en-US" dirty="0"/>
          </a:p>
        </p:txBody>
      </p:sp>
      <p:sp>
        <p:nvSpPr>
          <p:cNvPr id="6" name="TextBox 5">
            <a:extLst>
              <a:ext uri="{FF2B5EF4-FFF2-40B4-BE49-F238E27FC236}">
                <a16:creationId xmlns:a16="http://schemas.microsoft.com/office/drawing/2014/main" id="{187613A5-D73A-A782-26E6-8ED8CCC37122}"/>
              </a:ext>
            </a:extLst>
          </p:cNvPr>
          <p:cNvSpPr txBox="1"/>
          <p:nvPr/>
        </p:nvSpPr>
        <p:spPr>
          <a:xfrm>
            <a:off x="623208" y="1443841"/>
            <a:ext cx="8549367" cy="3170099"/>
          </a:xfrm>
          <a:prstGeom prst="rect">
            <a:avLst/>
          </a:prstGeom>
          <a:noFill/>
        </p:spPr>
        <p:txBody>
          <a:bodyPr wrap="square">
            <a:spAutoFit/>
          </a:bodyPr>
          <a:lstStyle/>
          <a:p>
            <a:pPr rtl="0">
              <a:buNone/>
            </a:pPr>
            <a:r>
              <a:rPr lang="en-US" sz="2000" b="1" dirty="0"/>
              <a:t>A. User and access management</a:t>
            </a:r>
          </a:p>
          <a:p>
            <a:pPr rtl="0">
              <a:buFont typeface="Arial" panose="020B0604020202020204" pitchFamily="34" charset="0"/>
              <a:buChar char="•"/>
            </a:pPr>
            <a:r>
              <a:rPr lang="en-US" sz="2000" dirty="0"/>
              <a:t>Role-based access for Students, Faculty, Club Admins, and Super Admins</a:t>
            </a:r>
          </a:p>
          <a:p>
            <a:pPr rtl="0">
              <a:buFont typeface="Arial" panose="020B0604020202020204" pitchFamily="34" charset="0"/>
              <a:buChar char="•"/>
            </a:pPr>
            <a:r>
              <a:rPr lang="en-US" sz="2000" dirty="0"/>
              <a:t>Secure login through Firebase Authentication, with user profiles in </a:t>
            </a:r>
            <a:r>
              <a:rPr lang="en-US" sz="2000" dirty="0" err="1"/>
              <a:t>Firestore</a:t>
            </a:r>
            <a:endParaRPr lang="en-US" sz="2000" dirty="0"/>
          </a:p>
          <a:p>
            <a:pPr rtl="0">
              <a:buFont typeface="Arial" panose="020B0604020202020204" pitchFamily="34" charset="0"/>
              <a:buChar char="•"/>
            </a:pPr>
            <a:r>
              <a:rPr lang="en-US" sz="2000" dirty="0"/>
              <a:t>Role-specific dashboards and permissions</a:t>
            </a:r>
          </a:p>
          <a:p>
            <a:pPr rtl="0">
              <a:buNone/>
            </a:pPr>
            <a:r>
              <a:rPr lang="en-US" sz="2000" b="1" dirty="0"/>
              <a:t>B. Campus engagement</a:t>
            </a:r>
          </a:p>
          <a:p>
            <a:pPr rtl="0">
              <a:buFont typeface="Arial" panose="020B0604020202020204" pitchFamily="34" charset="0"/>
              <a:buChar char="•"/>
            </a:pPr>
            <a:r>
              <a:rPr lang="en-US" sz="2000" b="1" dirty="0"/>
              <a:t>Event management:</a:t>
            </a:r>
            <a:r>
              <a:rPr lang="en-US" sz="2000" dirty="0"/>
              <a:t> create, publish, and register for campus events</a:t>
            </a:r>
          </a:p>
          <a:p>
            <a:pPr rtl="0">
              <a:buFont typeface="Arial" panose="020B0604020202020204" pitchFamily="34" charset="0"/>
              <a:buChar char="•"/>
            </a:pPr>
            <a:r>
              <a:rPr lang="en-US" sz="2000" b="1" dirty="0"/>
              <a:t>Club engagement:</a:t>
            </a:r>
            <a:r>
              <a:rPr lang="en-US" sz="2000" dirty="0"/>
              <a:t> club pages, announcements, and membership activity managed by club admins</a:t>
            </a:r>
          </a:p>
          <a:p>
            <a:pPr rtl="0">
              <a:buFont typeface="Arial" panose="020B0604020202020204" pitchFamily="34" charset="0"/>
              <a:buChar char="•"/>
            </a:pPr>
            <a:r>
              <a:rPr lang="en-US" sz="2000" b="1" dirty="0"/>
              <a:t>Lost &amp; Found:</a:t>
            </a:r>
            <a:r>
              <a:rPr lang="en-US" sz="2000" dirty="0"/>
              <a:t> Jaccard-similarity matching between lost-item and found-item reports, so likely matches are suggested automatically</a:t>
            </a:r>
          </a:p>
        </p:txBody>
      </p:sp>
    </p:spTree>
    <p:extLst>
      <p:ext uri="{BB962C8B-B14F-4D97-AF65-F5344CB8AC3E}">
        <p14:creationId xmlns:p14="http://schemas.microsoft.com/office/powerpoint/2010/main" val="3241059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F1E8C-3D20-AD43-47E3-44F7B6565A54}"/>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9257A92B-B293-62AA-5C4A-8394E962A12B}"/>
              </a:ext>
            </a:extLst>
          </p:cNvPr>
          <p:cNvGrpSpPr/>
          <p:nvPr/>
        </p:nvGrpSpPr>
        <p:grpSpPr>
          <a:xfrm>
            <a:off x="313844" y="5489699"/>
            <a:ext cx="1066895" cy="1078155"/>
            <a:chOff x="313844" y="5489699"/>
            <a:chExt cx="1066895" cy="1078155"/>
          </a:xfrm>
          <a:solidFill>
            <a:schemeClr val="accent2">
              <a:lumMod val="60000"/>
              <a:lumOff val="40000"/>
            </a:schemeClr>
          </a:solidFill>
        </p:grpSpPr>
        <p:sp>
          <p:nvSpPr>
            <p:cNvPr id="24" name="Rectangle 23">
              <a:extLst>
                <a:ext uri="{FF2B5EF4-FFF2-40B4-BE49-F238E27FC236}">
                  <a16:creationId xmlns:a16="http://schemas.microsoft.com/office/drawing/2014/main" id="{86028A66-063D-BBBE-3322-3A25DC890009}"/>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E1DB413C-693F-8313-29B3-3A3ACD8EAA50}"/>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2" name="Picture 1">
            <a:extLst>
              <a:ext uri="{FF2B5EF4-FFF2-40B4-BE49-F238E27FC236}">
                <a16:creationId xmlns:a16="http://schemas.microsoft.com/office/drawing/2014/main" id="{E98D16E6-64BC-8DE2-01C4-2A4ABBA3A959}"/>
              </a:ext>
            </a:extLst>
          </p:cNvPr>
          <p:cNvPicPr>
            <a:picLocks noChangeAspect="1"/>
          </p:cNvPicPr>
          <p:nvPr/>
        </p:nvPicPr>
        <p:blipFill>
          <a:blip r:embed="rId3"/>
          <a:stretch>
            <a:fillRect/>
          </a:stretch>
        </p:blipFill>
        <p:spPr>
          <a:xfrm>
            <a:off x="10743452" y="407539"/>
            <a:ext cx="849665" cy="1428531"/>
          </a:xfrm>
          <a:prstGeom prst="rect">
            <a:avLst/>
          </a:prstGeom>
        </p:spPr>
      </p:pic>
      <p:sp>
        <p:nvSpPr>
          <p:cNvPr id="5" name="TextBox 4">
            <a:extLst>
              <a:ext uri="{FF2B5EF4-FFF2-40B4-BE49-F238E27FC236}">
                <a16:creationId xmlns:a16="http://schemas.microsoft.com/office/drawing/2014/main" id="{E748B6A5-3466-3E7A-5E04-D182F47A3904}"/>
              </a:ext>
            </a:extLst>
          </p:cNvPr>
          <p:cNvSpPr txBox="1"/>
          <p:nvPr/>
        </p:nvSpPr>
        <p:spPr>
          <a:xfrm>
            <a:off x="623208" y="778262"/>
            <a:ext cx="11601450" cy="392415"/>
          </a:xfrm>
          <a:prstGeom prst="rect">
            <a:avLst/>
          </a:prstGeom>
          <a:noFill/>
        </p:spPr>
        <p:txBody>
          <a:bodyPr wrap="square" lIns="0" tIns="0" rIns="0" bIns="0" anchor="ctr">
            <a:spAutoFit/>
          </a:bodyPr>
          <a:lstStyle/>
          <a:p>
            <a:pPr algn="l"/>
            <a:r>
              <a:rPr lang="en-IN" sz="2550" b="1" i="0" u="none" dirty="0">
                <a:solidFill>
                  <a:srgbClr val="0B2545"/>
                </a:solidFill>
                <a:latin typeface="Poppins"/>
              </a:rPr>
              <a:t>Functionalities</a:t>
            </a:r>
            <a:endParaRPr sz="2550" b="0" i="0" u="none" dirty="0">
              <a:solidFill>
                <a:srgbClr val="D9381E"/>
              </a:solidFill>
              <a:latin typeface="Poppins Medium"/>
            </a:endParaRPr>
          </a:p>
        </p:txBody>
      </p:sp>
      <p:sp>
        <p:nvSpPr>
          <p:cNvPr id="14" name="Slide Number Placeholder 13">
            <a:extLst>
              <a:ext uri="{FF2B5EF4-FFF2-40B4-BE49-F238E27FC236}">
                <a16:creationId xmlns:a16="http://schemas.microsoft.com/office/drawing/2014/main" id="{D191F055-ABCA-48B6-4028-3F1427C24BBF}"/>
              </a:ext>
            </a:extLst>
          </p:cNvPr>
          <p:cNvSpPr>
            <a:spLocks noGrp="1"/>
          </p:cNvSpPr>
          <p:nvPr>
            <p:ph type="sldNum" sz="quarter" idx="12"/>
          </p:nvPr>
        </p:nvSpPr>
        <p:spPr/>
        <p:txBody>
          <a:bodyPr/>
          <a:lstStyle/>
          <a:p>
            <a:fld id="{D430BA08-B69C-4752-B2CF-0C56A0BACDE6}" type="slidenum">
              <a:rPr lang="en-IN" smtClean="0"/>
              <a:t>8</a:t>
            </a:fld>
            <a:endParaRPr lang="en-IN"/>
          </a:p>
        </p:txBody>
      </p:sp>
      <p:sp>
        <p:nvSpPr>
          <p:cNvPr id="16" name="Footer Placeholder 18">
            <a:extLst>
              <a:ext uri="{FF2B5EF4-FFF2-40B4-BE49-F238E27FC236}">
                <a16:creationId xmlns:a16="http://schemas.microsoft.com/office/drawing/2014/main" id="{8D40E941-AF29-2E85-3AD1-B8DEEE58F832}"/>
              </a:ext>
            </a:extLst>
          </p:cNvPr>
          <p:cNvSpPr>
            <a:spLocks noGrp="1"/>
          </p:cNvSpPr>
          <p:nvPr>
            <p:ph type="ftr" sz="quarter" idx="11"/>
          </p:nvPr>
        </p:nvSpPr>
        <p:spPr>
          <a:xfrm>
            <a:off x="4038600" y="6356350"/>
            <a:ext cx="4114800" cy="365125"/>
          </a:xfrm>
        </p:spPr>
        <p:txBody>
          <a:bodyPr/>
          <a:lstStyle/>
          <a:p>
            <a:r>
              <a:rPr lang="en-US" sz="1600" dirty="0"/>
              <a:t>Department of Computer Applications</a:t>
            </a:r>
            <a:endParaRPr lang="en-IN" sz="1600" dirty="0"/>
          </a:p>
          <a:p>
            <a:endParaRPr lang="en-IN" sz="1600" dirty="0"/>
          </a:p>
        </p:txBody>
      </p:sp>
      <p:sp>
        <p:nvSpPr>
          <p:cNvPr id="4" name="TextBox 3">
            <a:extLst>
              <a:ext uri="{FF2B5EF4-FFF2-40B4-BE49-F238E27FC236}">
                <a16:creationId xmlns:a16="http://schemas.microsoft.com/office/drawing/2014/main" id="{2CEB4091-A2CD-1DDD-9D84-61C95E657891}"/>
              </a:ext>
            </a:extLst>
          </p:cNvPr>
          <p:cNvSpPr txBox="1"/>
          <p:nvPr/>
        </p:nvSpPr>
        <p:spPr>
          <a:xfrm>
            <a:off x="598883" y="1582341"/>
            <a:ext cx="8549198" cy="369332"/>
          </a:xfrm>
          <a:prstGeom prst="rect">
            <a:avLst/>
          </a:prstGeom>
          <a:noFill/>
        </p:spPr>
        <p:txBody>
          <a:bodyPr wrap="square">
            <a:spAutoFit/>
          </a:bodyPr>
          <a:lstStyle/>
          <a:p>
            <a:pPr rtl="0">
              <a:buNone/>
            </a:pPr>
            <a:endParaRPr lang="en-US" dirty="0"/>
          </a:p>
        </p:txBody>
      </p:sp>
      <p:sp>
        <p:nvSpPr>
          <p:cNvPr id="6" name="TextBox 5">
            <a:extLst>
              <a:ext uri="{FF2B5EF4-FFF2-40B4-BE49-F238E27FC236}">
                <a16:creationId xmlns:a16="http://schemas.microsoft.com/office/drawing/2014/main" id="{00DD6AA4-6494-336D-7E29-3BF533B76FB4}"/>
              </a:ext>
            </a:extLst>
          </p:cNvPr>
          <p:cNvSpPr txBox="1"/>
          <p:nvPr/>
        </p:nvSpPr>
        <p:spPr>
          <a:xfrm>
            <a:off x="598883" y="1247259"/>
            <a:ext cx="9856599" cy="5109091"/>
          </a:xfrm>
          <a:prstGeom prst="rect">
            <a:avLst/>
          </a:prstGeom>
          <a:noFill/>
        </p:spPr>
        <p:txBody>
          <a:bodyPr wrap="square">
            <a:spAutoFit/>
          </a:bodyPr>
          <a:lstStyle/>
          <a:p>
            <a:r>
              <a:rPr lang="en-US" b="1" dirty="0"/>
              <a:t>C. Academic collaboration</a:t>
            </a:r>
          </a:p>
          <a:p>
            <a:r>
              <a:rPr lang="en-US" b="1" dirty="0"/>
              <a:t>Notes repository:</a:t>
            </a:r>
            <a:r>
              <a:rPr lang="en-US" dirty="0"/>
              <a:t> upload, browse, and download notes with hybrid recommendations based on relevance</a:t>
            </a:r>
          </a:p>
          <a:p>
            <a:r>
              <a:rPr lang="en-US" b="1" dirty="0"/>
              <a:t>SGPA/CGPA calculators:</a:t>
            </a:r>
            <a:r>
              <a:rPr lang="en-US" dirty="0"/>
              <a:t> quick academic performance calculation</a:t>
            </a:r>
          </a:p>
          <a:p>
            <a:r>
              <a:rPr lang="en-US" b="1" dirty="0"/>
              <a:t>D. Academic integrity</a:t>
            </a:r>
          </a:p>
          <a:p>
            <a:r>
              <a:rPr lang="en-US" b="1" dirty="0"/>
              <a:t>Plagiarism-Aware Assignment &amp; Notes Checker:</a:t>
            </a:r>
            <a:r>
              <a:rPr lang="en-US" dirty="0"/>
              <a:t> </a:t>
            </a:r>
          </a:p>
          <a:p>
            <a:pPr lvl="1"/>
            <a:r>
              <a:rPr lang="en-US" dirty="0"/>
              <a:t>Jaccard-based similarity scoring of submissions</a:t>
            </a:r>
          </a:p>
          <a:p>
            <a:pPr lvl="1"/>
            <a:r>
              <a:rPr lang="en-US" dirty="0"/>
              <a:t>Configurable similarity threshold</a:t>
            </a:r>
          </a:p>
          <a:p>
            <a:pPr lvl="1"/>
            <a:r>
              <a:rPr lang="en-US" dirty="0"/>
              <a:t>Near-duplicate flags raised before grading</a:t>
            </a:r>
          </a:p>
          <a:p>
            <a:pPr lvl="1"/>
            <a:r>
              <a:rPr lang="en-US" dirty="0"/>
              <a:t>Faculty review view of matched documents</a:t>
            </a:r>
          </a:p>
          <a:p>
            <a:r>
              <a:rPr lang="en-US" b="1" dirty="0"/>
              <a:t>E. Smart study support</a:t>
            </a:r>
          </a:p>
          <a:p>
            <a:r>
              <a:rPr lang="en-US" b="1" dirty="0"/>
              <a:t>Smart Study Planner:</a:t>
            </a:r>
            <a:r>
              <a:rPr lang="en-US" dirty="0"/>
              <a:t> </a:t>
            </a:r>
          </a:p>
          <a:p>
            <a:pPr lvl="1"/>
            <a:r>
              <a:rPr lang="en-US" dirty="0"/>
              <a:t>Takes assignment deadlines, exam dates, and registered events as input</a:t>
            </a:r>
          </a:p>
          <a:p>
            <a:pPr lvl="1"/>
            <a:r>
              <a:rPr lang="en-US" dirty="0"/>
              <a:t>Auto-builds a clash-free revision timetable</a:t>
            </a:r>
          </a:p>
          <a:p>
            <a:r>
              <a:rPr lang="en-US" b="1" dirty="0"/>
              <a:t>Notes Summarizer &amp; Auto-Flashcard Generator:</a:t>
            </a:r>
            <a:r>
              <a:rPr lang="en-US" dirty="0"/>
              <a:t> </a:t>
            </a:r>
          </a:p>
          <a:p>
            <a:pPr lvl="1"/>
            <a:r>
              <a:rPr lang="en-US" dirty="0"/>
              <a:t>Condenses long uploaded notes into concise summaries</a:t>
            </a:r>
          </a:p>
          <a:p>
            <a:pPr lvl="1"/>
            <a:r>
              <a:rPr lang="en-US" dirty="0"/>
              <a:t>Generates flashcards for quick revision</a:t>
            </a:r>
          </a:p>
          <a:p>
            <a:pPr rtl="0">
              <a:buNone/>
            </a:pPr>
            <a:endParaRPr lang="en-US" sz="2000" dirty="0"/>
          </a:p>
        </p:txBody>
      </p:sp>
    </p:spTree>
    <p:extLst>
      <p:ext uri="{BB962C8B-B14F-4D97-AF65-F5344CB8AC3E}">
        <p14:creationId xmlns:p14="http://schemas.microsoft.com/office/powerpoint/2010/main" val="1389783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55082-6C94-8FB6-28C6-23BD51945DC1}"/>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2661F7FA-8127-0149-3FF7-5509A60DECA1}"/>
              </a:ext>
            </a:extLst>
          </p:cNvPr>
          <p:cNvGrpSpPr/>
          <p:nvPr/>
        </p:nvGrpSpPr>
        <p:grpSpPr>
          <a:xfrm>
            <a:off x="313844" y="5489699"/>
            <a:ext cx="1066895" cy="1078155"/>
            <a:chOff x="313844" y="5489699"/>
            <a:chExt cx="1066895" cy="1078155"/>
          </a:xfrm>
          <a:solidFill>
            <a:schemeClr val="accent2">
              <a:lumMod val="60000"/>
              <a:lumOff val="40000"/>
            </a:schemeClr>
          </a:solidFill>
        </p:grpSpPr>
        <p:sp>
          <p:nvSpPr>
            <p:cNvPr id="24" name="Rectangle 23">
              <a:extLst>
                <a:ext uri="{FF2B5EF4-FFF2-40B4-BE49-F238E27FC236}">
                  <a16:creationId xmlns:a16="http://schemas.microsoft.com/office/drawing/2014/main" id="{A899D5C1-043F-9B98-C5DA-EE614F2382A7}"/>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5FDE19FE-FD8E-C69D-6FDD-BEF563F62BB1}"/>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2" name="Picture 1">
            <a:extLst>
              <a:ext uri="{FF2B5EF4-FFF2-40B4-BE49-F238E27FC236}">
                <a16:creationId xmlns:a16="http://schemas.microsoft.com/office/drawing/2014/main" id="{DBB4C027-F26A-8E65-29B9-0CE4B33FCBD9}"/>
              </a:ext>
            </a:extLst>
          </p:cNvPr>
          <p:cNvPicPr>
            <a:picLocks noChangeAspect="1"/>
          </p:cNvPicPr>
          <p:nvPr/>
        </p:nvPicPr>
        <p:blipFill>
          <a:blip r:embed="rId2"/>
          <a:stretch>
            <a:fillRect/>
          </a:stretch>
        </p:blipFill>
        <p:spPr>
          <a:xfrm>
            <a:off x="10743452" y="407539"/>
            <a:ext cx="849665" cy="1428531"/>
          </a:xfrm>
          <a:prstGeom prst="rect">
            <a:avLst/>
          </a:prstGeom>
        </p:spPr>
      </p:pic>
      <p:sp>
        <p:nvSpPr>
          <p:cNvPr id="5" name="TextBox 4">
            <a:extLst>
              <a:ext uri="{FF2B5EF4-FFF2-40B4-BE49-F238E27FC236}">
                <a16:creationId xmlns:a16="http://schemas.microsoft.com/office/drawing/2014/main" id="{7A0399C3-D187-D4BF-6290-D9CC2086BD03}"/>
              </a:ext>
            </a:extLst>
          </p:cNvPr>
          <p:cNvSpPr txBox="1"/>
          <p:nvPr/>
        </p:nvSpPr>
        <p:spPr>
          <a:xfrm>
            <a:off x="473178" y="925596"/>
            <a:ext cx="9024783" cy="392415"/>
          </a:xfrm>
          <a:prstGeom prst="rect">
            <a:avLst/>
          </a:prstGeom>
          <a:noFill/>
        </p:spPr>
        <p:txBody>
          <a:bodyPr wrap="square" lIns="0" tIns="0" rIns="0" bIns="0" anchor="ctr">
            <a:spAutoFit/>
          </a:bodyPr>
          <a:lstStyle/>
          <a:p>
            <a:pPr algn="l"/>
            <a:r>
              <a:rPr lang="en-IN" sz="2550" b="1" i="0" u="none" dirty="0">
                <a:solidFill>
                  <a:srgbClr val="0B2545"/>
                </a:solidFill>
                <a:latin typeface="Poppins"/>
              </a:rPr>
              <a:t>Tools and Technologies</a:t>
            </a:r>
            <a:endParaRPr sz="2550" b="0" i="0" u="none" dirty="0">
              <a:solidFill>
                <a:srgbClr val="D9381E"/>
              </a:solidFill>
              <a:latin typeface="Poppins Medium"/>
            </a:endParaRPr>
          </a:p>
        </p:txBody>
      </p:sp>
      <p:sp>
        <p:nvSpPr>
          <p:cNvPr id="9" name="Slide Number Placeholder 8">
            <a:extLst>
              <a:ext uri="{FF2B5EF4-FFF2-40B4-BE49-F238E27FC236}">
                <a16:creationId xmlns:a16="http://schemas.microsoft.com/office/drawing/2014/main" id="{A1FB1229-6142-0347-81B2-FC56216A5A37}"/>
              </a:ext>
            </a:extLst>
          </p:cNvPr>
          <p:cNvSpPr>
            <a:spLocks noGrp="1"/>
          </p:cNvSpPr>
          <p:nvPr>
            <p:ph type="sldNum" sz="quarter" idx="12"/>
          </p:nvPr>
        </p:nvSpPr>
        <p:spPr/>
        <p:txBody>
          <a:bodyPr/>
          <a:lstStyle/>
          <a:p>
            <a:fld id="{D430BA08-B69C-4752-B2CF-0C56A0BACDE6}" type="slidenum">
              <a:rPr lang="en-IN" smtClean="0"/>
              <a:t>9</a:t>
            </a:fld>
            <a:endParaRPr lang="en-IN"/>
          </a:p>
        </p:txBody>
      </p:sp>
      <p:sp>
        <p:nvSpPr>
          <p:cNvPr id="10" name="Footer Placeholder 18">
            <a:extLst>
              <a:ext uri="{FF2B5EF4-FFF2-40B4-BE49-F238E27FC236}">
                <a16:creationId xmlns:a16="http://schemas.microsoft.com/office/drawing/2014/main" id="{E2713239-68B2-C302-0D4A-AA8E45D08EFA}"/>
              </a:ext>
            </a:extLst>
          </p:cNvPr>
          <p:cNvSpPr>
            <a:spLocks noGrp="1"/>
          </p:cNvSpPr>
          <p:nvPr>
            <p:ph type="ftr" sz="quarter" idx="11"/>
          </p:nvPr>
        </p:nvSpPr>
        <p:spPr>
          <a:xfrm>
            <a:off x="4038600" y="6356350"/>
            <a:ext cx="4114800" cy="365125"/>
          </a:xfrm>
        </p:spPr>
        <p:txBody>
          <a:bodyPr/>
          <a:lstStyle/>
          <a:p>
            <a:r>
              <a:rPr lang="en-US" sz="1600" dirty="0"/>
              <a:t>Department of Computer Applications</a:t>
            </a:r>
            <a:endParaRPr lang="en-IN" sz="1600" dirty="0"/>
          </a:p>
          <a:p>
            <a:endParaRPr lang="en-IN" sz="1600" dirty="0"/>
          </a:p>
        </p:txBody>
      </p:sp>
      <p:graphicFrame>
        <p:nvGraphicFramePr>
          <p:cNvPr id="3" name="Table 2">
            <a:extLst>
              <a:ext uri="{FF2B5EF4-FFF2-40B4-BE49-F238E27FC236}">
                <a16:creationId xmlns:a16="http://schemas.microsoft.com/office/drawing/2014/main" id="{9A79B676-76BF-E381-860D-1FD0561EFCB4}"/>
              </a:ext>
            </a:extLst>
          </p:cNvPr>
          <p:cNvGraphicFramePr>
            <a:graphicFrameLocks noGrp="1"/>
          </p:cNvGraphicFramePr>
          <p:nvPr>
            <p:extLst>
              <p:ext uri="{D42A27DB-BD31-4B8C-83A1-F6EECF244321}">
                <p14:modId xmlns:p14="http://schemas.microsoft.com/office/powerpoint/2010/main" val="2549439622"/>
              </p:ext>
            </p:extLst>
          </p:nvPr>
        </p:nvGraphicFramePr>
        <p:xfrm>
          <a:off x="473177" y="1665074"/>
          <a:ext cx="10086264" cy="4464432"/>
        </p:xfrm>
        <a:graphic>
          <a:graphicData uri="http://schemas.openxmlformats.org/drawingml/2006/table">
            <a:tbl>
              <a:tblPr/>
              <a:tblGrid>
                <a:gridCol w="3362088">
                  <a:extLst>
                    <a:ext uri="{9D8B030D-6E8A-4147-A177-3AD203B41FA5}">
                      <a16:colId xmlns:a16="http://schemas.microsoft.com/office/drawing/2014/main" val="1240633058"/>
                    </a:ext>
                  </a:extLst>
                </a:gridCol>
                <a:gridCol w="3362088">
                  <a:extLst>
                    <a:ext uri="{9D8B030D-6E8A-4147-A177-3AD203B41FA5}">
                      <a16:colId xmlns:a16="http://schemas.microsoft.com/office/drawing/2014/main" val="621309120"/>
                    </a:ext>
                  </a:extLst>
                </a:gridCol>
                <a:gridCol w="3362088">
                  <a:extLst>
                    <a:ext uri="{9D8B030D-6E8A-4147-A177-3AD203B41FA5}">
                      <a16:colId xmlns:a16="http://schemas.microsoft.com/office/drawing/2014/main" val="1785267737"/>
                    </a:ext>
                  </a:extLst>
                </a:gridCol>
              </a:tblGrid>
              <a:tr h="255961">
                <a:tc>
                  <a:txBody>
                    <a:bodyPr/>
                    <a:lstStyle/>
                    <a:p>
                      <a:pPr>
                        <a:buNone/>
                      </a:pPr>
                      <a:r>
                        <a:rPr lang="en-IN" sz="1800" b="1" dirty="0"/>
                        <a:t>Domain</a:t>
                      </a:r>
                    </a:p>
                  </a:txBody>
                  <a:tcPr marL="63990" marR="63990" marT="31995" marB="31995" anchor="ctr">
                    <a:lnL>
                      <a:noFill/>
                    </a:lnL>
                    <a:lnR>
                      <a:noFill/>
                    </a:lnR>
                    <a:lnT>
                      <a:noFill/>
                    </a:lnT>
                    <a:lnB>
                      <a:noFill/>
                    </a:lnB>
                    <a:noFill/>
                  </a:tcPr>
                </a:tc>
                <a:tc>
                  <a:txBody>
                    <a:bodyPr/>
                    <a:lstStyle/>
                    <a:p>
                      <a:pPr>
                        <a:buNone/>
                      </a:pPr>
                      <a:r>
                        <a:rPr lang="en-IN" sz="1600" b="1" dirty="0"/>
                        <a:t>Tools / Frameworks</a:t>
                      </a:r>
                    </a:p>
                  </a:txBody>
                  <a:tcPr marL="63990" marR="63990" marT="31995" marB="31995" anchor="ctr">
                    <a:lnL>
                      <a:noFill/>
                    </a:lnL>
                    <a:lnR>
                      <a:noFill/>
                    </a:lnR>
                    <a:lnT>
                      <a:noFill/>
                    </a:lnT>
                    <a:lnB>
                      <a:noFill/>
                    </a:lnB>
                    <a:noFill/>
                  </a:tcPr>
                </a:tc>
                <a:tc>
                  <a:txBody>
                    <a:bodyPr/>
                    <a:lstStyle/>
                    <a:p>
                      <a:pPr>
                        <a:buNone/>
                      </a:pPr>
                      <a:r>
                        <a:rPr lang="en-IN" sz="1600" b="1" dirty="0"/>
                        <a:t>Purpose / Justification</a:t>
                      </a:r>
                    </a:p>
                  </a:txBody>
                  <a:tcPr marL="63990" marR="63990" marT="31995" marB="31995" anchor="ctr">
                    <a:lnL>
                      <a:noFill/>
                    </a:lnL>
                    <a:lnR>
                      <a:noFill/>
                    </a:lnR>
                    <a:lnT>
                      <a:noFill/>
                    </a:lnT>
                    <a:lnB>
                      <a:noFill/>
                    </a:lnB>
                    <a:noFill/>
                  </a:tcPr>
                </a:tc>
                <a:extLst>
                  <a:ext uri="{0D108BD9-81ED-4DB2-BD59-A6C34878D82A}">
                    <a16:rowId xmlns:a16="http://schemas.microsoft.com/office/drawing/2014/main" val="2358950902"/>
                  </a:ext>
                </a:extLst>
              </a:tr>
              <a:tr h="639903">
                <a:tc>
                  <a:txBody>
                    <a:bodyPr/>
                    <a:lstStyle/>
                    <a:p>
                      <a:pPr>
                        <a:buNone/>
                      </a:pPr>
                      <a:r>
                        <a:rPr lang="en-IN" sz="1300" dirty="0"/>
                        <a:t>Front end</a:t>
                      </a:r>
                    </a:p>
                  </a:txBody>
                  <a:tcPr marL="63990" marR="63990" marT="31995" marB="31995" anchor="ctr">
                    <a:lnL>
                      <a:noFill/>
                    </a:lnL>
                    <a:lnR>
                      <a:noFill/>
                    </a:lnR>
                    <a:lnT>
                      <a:noFill/>
                    </a:lnT>
                    <a:lnB>
                      <a:noFill/>
                    </a:lnB>
                    <a:noFill/>
                  </a:tcPr>
                </a:tc>
                <a:tc>
                  <a:txBody>
                    <a:bodyPr/>
                    <a:lstStyle/>
                    <a:p>
                      <a:pPr>
                        <a:buNone/>
                      </a:pPr>
                      <a:r>
                        <a:rPr lang="en-IN" sz="1300"/>
                        <a:t>Flutter 3.16 (Dart), Figma</a:t>
                      </a:r>
                    </a:p>
                  </a:txBody>
                  <a:tcPr marL="63990" marR="63990" marT="31995" marB="31995" anchor="ctr">
                    <a:lnL>
                      <a:noFill/>
                    </a:lnL>
                    <a:lnR>
                      <a:noFill/>
                    </a:lnR>
                    <a:lnT>
                      <a:noFill/>
                    </a:lnT>
                    <a:lnB>
                      <a:noFill/>
                    </a:lnB>
                    <a:noFill/>
                  </a:tcPr>
                </a:tc>
                <a:tc>
                  <a:txBody>
                    <a:bodyPr/>
                    <a:lstStyle/>
                    <a:p>
                      <a:pPr>
                        <a:buNone/>
                      </a:pPr>
                      <a:r>
                        <a:rPr lang="en-US" sz="1300"/>
                        <a:t>Cross-platform Android UI for every module, with prototyping and design in Figma</a:t>
                      </a:r>
                    </a:p>
                  </a:txBody>
                  <a:tcPr marL="63990" marR="63990" marT="31995" marB="31995" anchor="ctr">
                    <a:lnL>
                      <a:noFill/>
                    </a:lnL>
                    <a:lnR>
                      <a:noFill/>
                    </a:lnR>
                    <a:lnT>
                      <a:noFill/>
                    </a:lnT>
                    <a:lnB>
                      <a:noFill/>
                    </a:lnB>
                    <a:noFill/>
                  </a:tcPr>
                </a:tc>
                <a:extLst>
                  <a:ext uri="{0D108BD9-81ED-4DB2-BD59-A6C34878D82A}">
                    <a16:rowId xmlns:a16="http://schemas.microsoft.com/office/drawing/2014/main" val="898967849"/>
                  </a:ext>
                </a:extLst>
              </a:tr>
              <a:tr h="831873">
                <a:tc>
                  <a:txBody>
                    <a:bodyPr/>
                    <a:lstStyle/>
                    <a:p>
                      <a:pPr>
                        <a:buNone/>
                      </a:pPr>
                      <a:r>
                        <a:rPr lang="en-IN" sz="1300"/>
                        <a:t>Back end / APIs</a:t>
                      </a:r>
                    </a:p>
                  </a:txBody>
                  <a:tcPr marL="63990" marR="63990" marT="31995" marB="31995" anchor="ctr">
                    <a:lnL>
                      <a:noFill/>
                    </a:lnL>
                    <a:lnR>
                      <a:noFill/>
                    </a:lnR>
                    <a:lnT>
                      <a:noFill/>
                    </a:lnT>
                    <a:lnB>
                      <a:noFill/>
                    </a:lnB>
                    <a:noFill/>
                  </a:tcPr>
                </a:tc>
                <a:tc>
                  <a:txBody>
                    <a:bodyPr/>
                    <a:lstStyle/>
                    <a:p>
                      <a:pPr>
                        <a:buNone/>
                      </a:pPr>
                      <a:r>
                        <a:rPr lang="en-IN" sz="1300" dirty="0"/>
                        <a:t>Spring Boot 3.4.2, REST APIs</a:t>
                      </a:r>
                    </a:p>
                  </a:txBody>
                  <a:tcPr marL="63990" marR="63990" marT="31995" marB="31995" anchor="ctr">
                    <a:lnL>
                      <a:noFill/>
                    </a:lnL>
                    <a:lnR>
                      <a:noFill/>
                    </a:lnR>
                    <a:lnT>
                      <a:noFill/>
                    </a:lnT>
                    <a:lnB>
                      <a:noFill/>
                    </a:lnB>
                    <a:noFill/>
                  </a:tcPr>
                </a:tc>
                <a:tc>
                  <a:txBody>
                    <a:bodyPr/>
                    <a:lstStyle/>
                    <a:p>
                      <a:pPr>
                        <a:buNone/>
                      </a:pPr>
                      <a:r>
                        <a:rPr lang="en-US" sz="1300"/>
                        <a:t>Business logic, role-based access control, doubt-routing service, and communication between app and database</a:t>
                      </a:r>
                    </a:p>
                  </a:txBody>
                  <a:tcPr marL="63990" marR="63990" marT="31995" marB="31995" anchor="ctr">
                    <a:lnL>
                      <a:noFill/>
                    </a:lnL>
                    <a:lnR>
                      <a:noFill/>
                    </a:lnR>
                    <a:lnT>
                      <a:noFill/>
                    </a:lnT>
                    <a:lnB>
                      <a:noFill/>
                    </a:lnB>
                    <a:noFill/>
                  </a:tcPr>
                </a:tc>
                <a:extLst>
                  <a:ext uri="{0D108BD9-81ED-4DB2-BD59-A6C34878D82A}">
                    <a16:rowId xmlns:a16="http://schemas.microsoft.com/office/drawing/2014/main" val="7440955"/>
                  </a:ext>
                </a:extLst>
              </a:tr>
              <a:tr h="1023844">
                <a:tc>
                  <a:txBody>
                    <a:bodyPr/>
                    <a:lstStyle/>
                    <a:p>
                      <a:pPr>
                        <a:buNone/>
                      </a:pPr>
                      <a:r>
                        <a:rPr lang="en-IN" sz="1300"/>
                        <a:t>AI / matching engines</a:t>
                      </a:r>
                    </a:p>
                  </a:txBody>
                  <a:tcPr marL="63990" marR="63990" marT="31995" marB="31995" anchor="ctr">
                    <a:lnL>
                      <a:noFill/>
                    </a:lnL>
                    <a:lnR>
                      <a:noFill/>
                    </a:lnR>
                    <a:lnT>
                      <a:noFill/>
                    </a:lnT>
                    <a:lnB>
                      <a:noFill/>
                    </a:lnB>
                    <a:noFill/>
                  </a:tcPr>
                </a:tc>
                <a:tc>
                  <a:txBody>
                    <a:bodyPr/>
                    <a:lstStyle/>
                    <a:p>
                      <a:pPr>
                        <a:buNone/>
                      </a:pPr>
                      <a:r>
                        <a:rPr lang="en-IN" sz="1300"/>
                        <a:t>Jaccard Similarity, Hybrid Recommender</a:t>
                      </a:r>
                    </a:p>
                  </a:txBody>
                  <a:tcPr marL="63990" marR="63990" marT="31995" marB="31995" anchor="ctr">
                    <a:lnL>
                      <a:noFill/>
                    </a:lnL>
                    <a:lnR>
                      <a:noFill/>
                    </a:lnR>
                    <a:lnT>
                      <a:noFill/>
                    </a:lnT>
                    <a:lnB>
                      <a:noFill/>
                    </a:lnB>
                    <a:noFill/>
                  </a:tcPr>
                </a:tc>
                <a:tc>
                  <a:txBody>
                    <a:bodyPr/>
                    <a:lstStyle/>
                    <a:p>
                      <a:pPr>
                        <a:buNone/>
                      </a:pPr>
                      <a:r>
                        <a:rPr lang="en-US" sz="1300"/>
                        <a:t>Lost &amp; Found matching, notes recommendations, doubt routing, plagiarism checks, study-plan generation, and note summarization</a:t>
                      </a:r>
                    </a:p>
                  </a:txBody>
                  <a:tcPr marL="63990" marR="63990" marT="31995" marB="31995" anchor="ctr">
                    <a:lnL>
                      <a:noFill/>
                    </a:lnL>
                    <a:lnR>
                      <a:noFill/>
                    </a:lnR>
                    <a:lnT>
                      <a:noFill/>
                    </a:lnT>
                    <a:lnB>
                      <a:noFill/>
                    </a:lnB>
                    <a:noFill/>
                  </a:tcPr>
                </a:tc>
                <a:extLst>
                  <a:ext uri="{0D108BD9-81ED-4DB2-BD59-A6C34878D82A}">
                    <a16:rowId xmlns:a16="http://schemas.microsoft.com/office/drawing/2014/main" val="3875390397"/>
                  </a:ext>
                </a:extLst>
              </a:tr>
              <a:tr h="447932">
                <a:tc>
                  <a:txBody>
                    <a:bodyPr/>
                    <a:lstStyle/>
                    <a:p>
                      <a:pPr>
                        <a:buNone/>
                      </a:pPr>
                      <a:r>
                        <a:rPr lang="en-IN" sz="1300"/>
                        <a:t>Database</a:t>
                      </a:r>
                    </a:p>
                  </a:txBody>
                  <a:tcPr marL="63990" marR="63990" marT="31995" marB="31995" anchor="ctr">
                    <a:lnL>
                      <a:noFill/>
                    </a:lnL>
                    <a:lnR>
                      <a:noFill/>
                    </a:lnR>
                    <a:lnT>
                      <a:noFill/>
                    </a:lnT>
                    <a:lnB>
                      <a:noFill/>
                    </a:lnB>
                    <a:noFill/>
                  </a:tcPr>
                </a:tc>
                <a:tc>
                  <a:txBody>
                    <a:bodyPr/>
                    <a:lstStyle/>
                    <a:p>
                      <a:pPr>
                        <a:buNone/>
                      </a:pPr>
                      <a:r>
                        <a:rPr lang="en-IN" sz="1300"/>
                        <a:t>Firebase Firestore</a:t>
                      </a:r>
                    </a:p>
                  </a:txBody>
                  <a:tcPr marL="63990" marR="63990" marT="31995" marB="31995" anchor="ctr">
                    <a:lnL>
                      <a:noFill/>
                    </a:lnL>
                    <a:lnR>
                      <a:noFill/>
                    </a:lnR>
                    <a:lnT>
                      <a:noFill/>
                    </a:lnT>
                    <a:lnB>
                      <a:noFill/>
                    </a:lnB>
                    <a:noFill/>
                  </a:tcPr>
                </a:tc>
                <a:tc>
                  <a:txBody>
                    <a:bodyPr/>
                    <a:lstStyle/>
                    <a:p>
                      <a:pPr>
                        <a:buNone/>
                      </a:pPr>
                      <a:r>
                        <a:rPr lang="en-US" sz="1300"/>
                        <a:t>Real-time storage of users, doubts, notes, events, and study plans</a:t>
                      </a:r>
                    </a:p>
                  </a:txBody>
                  <a:tcPr marL="63990" marR="63990" marT="31995" marB="31995" anchor="ctr">
                    <a:lnL>
                      <a:noFill/>
                    </a:lnL>
                    <a:lnR>
                      <a:noFill/>
                    </a:lnR>
                    <a:lnT>
                      <a:noFill/>
                    </a:lnT>
                    <a:lnB>
                      <a:noFill/>
                    </a:lnB>
                    <a:noFill/>
                  </a:tcPr>
                </a:tc>
                <a:extLst>
                  <a:ext uri="{0D108BD9-81ED-4DB2-BD59-A6C34878D82A}">
                    <a16:rowId xmlns:a16="http://schemas.microsoft.com/office/drawing/2014/main" val="3006126387"/>
                  </a:ext>
                </a:extLst>
              </a:tr>
              <a:tr h="447932">
                <a:tc>
                  <a:txBody>
                    <a:bodyPr/>
                    <a:lstStyle/>
                    <a:p>
                      <a:pPr>
                        <a:buNone/>
                      </a:pPr>
                      <a:r>
                        <a:rPr lang="en-IN" sz="1300"/>
                        <a:t>Authentication</a:t>
                      </a:r>
                    </a:p>
                  </a:txBody>
                  <a:tcPr marL="63990" marR="63990" marT="31995" marB="31995" anchor="ctr">
                    <a:lnL>
                      <a:noFill/>
                    </a:lnL>
                    <a:lnR>
                      <a:noFill/>
                    </a:lnR>
                    <a:lnT>
                      <a:noFill/>
                    </a:lnT>
                    <a:lnB>
                      <a:noFill/>
                    </a:lnB>
                    <a:noFill/>
                  </a:tcPr>
                </a:tc>
                <a:tc>
                  <a:txBody>
                    <a:bodyPr/>
                    <a:lstStyle/>
                    <a:p>
                      <a:pPr>
                        <a:buNone/>
                      </a:pPr>
                      <a:r>
                        <a:rPr lang="en-IN" sz="1300"/>
                        <a:t>Firebase Authentication</a:t>
                      </a:r>
                    </a:p>
                  </a:txBody>
                  <a:tcPr marL="63990" marR="63990" marT="31995" marB="31995" anchor="ctr">
                    <a:lnL>
                      <a:noFill/>
                    </a:lnL>
                    <a:lnR>
                      <a:noFill/>
                    </a:lnR>
                    <a:lnT>
                      <a:noFill/>
                    </a:lnT>
                    <a:lnB>
                      <a:noFill/>
                    </a:lnB>
                    <a:noFill/>
                  </a:tcPr>
                </a:tc>
                <a:tc>
                  <a:txBody>
                    <a:bodyPr/>
                    <a:lstStyle/>
                    <a:p>
                      <a:pPr>
                        <a:buNone/>
                      </a:pPr>
                      <a:r>
                        <a:rPr lang="en-US" sz="1300"/>
                        <a:t>Secure login and role-based identity</a:t>
                      </a:r>
                    </a:p>
                  </a:txBody>
                  <a:tcPr marL="63990" marR="63990" marT="31995" marB="31995" anchor="ctr">
                    <a:lnL>
                      <a:noFill/>
                    </a:lnL>
                    <a:lnR>
                      <a:noFill/>
                    </a:lnR>
                    <a:lnT>
                      <a:noFill/>
                    </a:lnT>
                    <a:lnB>
                      <a:noFill/>
                    </a:lnB>
                    <a:noFill/>
                  </a:tcPr>
                </a:tc>
                <a:extLst>
                  <a:ext uri="{0D108BD9-81ED-4DB2-BD59-A6C34878D82A}">
                    <a16:rowId xmlns:a16="http://schemas.microsoft.com/office/drawing/2014/main" val="3403520386"/>
                  </a:ext>
                </a:extLst>
              </a:tr>
              <a:tr h="447932">
                <a:tc>
                  <a:txBody>
                    <a:bodyPr/>
                    <a:lstStyle/>
                    <a:p>
                      <a:pPr>
                        <a:buNone/>
                      </a:pPr>
                      <a:r>
                        <a:rPr lang="en-IN" sz="1300"/>
                        <a:t>File storage</a:t>
                      </a:r>
                    </a:p>
                  </a:txBody>
                  <a:tcPr marL="63990" marR="63990" marT="31995" marB="31995" anchor="ctr">
                    <a:lnL>
                      <a:noFill/>
                    </a:lnL>
                    <a:lnR>
                      <a:noFill/>
                    </a:lnR>
                    <a:lnT>
                      <a:noFill/>
                    </a:lnT>
                    <a:lnB>
                      <a:noFill/>
                    </a:lnB>
                    <a:noFill/>
                  </a:tcPr>
                </a:tc>
                <a:tc>
                  <a:txBody>
                    <a:bodyPr/>
                    <a:lstStyle/>
                    <a:p>
                      <a:pPr>
                        <a:buNone/>
                      </a:pPr>
                      <a:r>
                        <a:rPr lang="en-IN" sz="1300"/>
                        <a:t>Firebase Cloud Storage</a:t>
                      </a:r>
                    </a:p>
                  </a:txBody>
                  <a:tcPr marL="63990" marR="63990" marT="31995" marB="31995" anchor="ctr">
                    <a:lnL>
                      <a:noFill/>
                    </a:lnL>
                    <a:lnR>
                      <a:noFill/>
                    </a:lnR>
                    <a:lnT>
                      <a:noFill/>
                    </a:lnT>
                    <a:lnB>
                      <a:noFill/>
                    </a:lnB>
                    <a:noFill/>
                  </a:tcPr>
                </a:tc>
                <a:tc>
                  <a:txBody>
                    <a:bodyPr/>
                    <a:lstStyle/>
                    <a:p>
                      <a:pPr>
                        <a:buNone/>
                      </a:pPr>
                      <a:r>
                        <a:rPr lang="en-US" sz="1300"/>
                        <a:t>Storage for uploaded notes and assignment files</a:t>
                      </a:r>
                    </a:p>
                  </a:txBody>
                  <a:tcPr marL="63990" marR="63990" marT="31995" marB="31995" anchor="ctr">
                    <a:lnL>
                      <a:noFill/>
                    </a:lnL>
                    <a:lnR>
                      <a:noFill/>
                    </a:lnR>
                    <a:lnT>
                      <a:noFill/>
                    </a:lnT>
                    <a:lnB>
                      <a:noFill/>
                    </a:lnB>
                    <a:noFill/>
                  </a:tcPr>
                </a:tc>
                <a:extLst>
                  <a:ext uri="{0D108BD9-81ED-4DB2-BD59-A6C34878D82A}">
                    <a16:rowId xmlns:a16="http://schemas.microsoft.com/office/drawing/2014/main" val="3636891291"/>
                  </a:ext>
                </a:extLst>
              </a:tr>
              <a:tr h="255961">
                <a:tc>
                  <a:txBody>
                    <a:bodyPr/>
                    <a:lstStyle/>
                    <a:p>
                      <a:pPr>
                        <a:buNone/>
                      </a:pPr>
                      <a:r>
                        <a:rPr lang="en-IN" sz="1300"/>
                        <a:t>Notifications</a:t>
                      </a:r>
                    </a:p>
                  </a:txBody>
                  <a:tcPr marL="63990" marR="63990" marT="31995" marB="31995" anchor="ctr">
                    <a:lnL>
                      <a:noFill/>
                    </a:lnL>
                    <a:lnR>
                      <a:noFill/>
                    </a:lnR>
                    <a:lnT>
                      <a:noFill/>
                    </a:lnT>
                    <a:lnB>
                      <a:noFill/>
                    </a:lnB>
                    <a:noFill/>
                  </a:tcPr>
                </a:tc>
                <a:tc>
                  <a:txBody>
                    <a:bodyPr/>
                    <a:lstStyle/>
                    <a:p>
                      <a:pPr>
                        <a:buNone/>
                      </a:pPr>
                      <a:r>
                        <a:rPr lang="en-IN" sz="1300"/>
                        <a:t>Firebase Cloud Messaging (FCM)</a:t>
                      </a:r>
                    </a:p>
                  </a:txBody>
                  <a:tcPr marL="63990" marR="63990" marT="31995" marB="31995" anchor="ctr">
                    <a:lnL>
                      <a:noFill/>
                    </a:lnL>
                    <a:lnR>
                      <a:noFill/>
                    </a:lnR>
                    <a:lnT>
                      <a:noFill/>
                    </a:lnT>
                    <a:lnB>
                      <a:noFill/>
                    </a:lnB>
                    <a:noFill/>
                  </a:tcPr>
                </a:tc>
                <a:tc>
                  <a:txBody>
                    <a:bodyPr/>
                    <a:lstStyle/>
                    <a:p>
                      <a:pPr>
                        <a:buNone/>
                      </a:pPr>
                      <a:r>
                        <a:rPr lang="en-IN" sz="1300" dirty="0"/>
                        <a:t>Real-time push alerts</a:t>
                      </a:r>
                    </a:p>
                  </a:txBody>
                  <a:tcPr marL="63990" marR="63990" marT="31995" marB="31995" anchor="ctr">
                    <a:lnL>
                      <a:noFill/>
                    </a:lnL>
                    <a:lnR>
                      <a:noFill/>
                    </a:lnR>
                    <a:lnT>
                      <a:noFill/>
                    </a:lnT>
                    <a:lnB>
                      <a:noFill/>
                    </a:lnB>
                    <a:noFill/>
                  </a:tcPr>
                </a:tc>
                <a:extLst>
                  <a:ext uri="{0D108BD9-81ED-4DB2-BD59-A6C34878D82A}">
                    <a16:rowId xmlns:a16="http://schemas.microsoft.com/office/drawing/2014/main" val="35304021"/>
                  </a:ext>
                </a:extLst>
              </a:tr>
            </a:tbl>
          </a:graphicData>
        </a:graphic>
      </p:graphicFrame>
    </p:spTree>
    <p:extLst>
      <p:ext uri="{BB962C8B-B14F-4D97-AF65-F5344CB8AC3E}">
        <p14:creationId xmlns:p14="http://schemas.microsoft.com/office/powerpoint/2010/main" val="35033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44FD96A8-0571-4828-AA94-7DB93A4857C5}"/>
              </a:ext>
            </a:extLst>
          </p:cNvPr>
          <p:cNvCxnSpPr>
            <a:cxnSpLocks/>
          </p:cNvCxnSpPr>
          <p:nvPr/>
        </p:nvCxnSpPr>
        <p:spPr>
          <a:xfrm flipV="1">
            <a:off x="4287946" y="3020912"/>
            <a:ext cx="4581449" cy="1"/>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6DD8DCC0-549E-48DB-8CCA-E3FF8FBDEBF0}"/>
              </a:ext>
            </a:extLst>
          </p:cNvPr>
          <p:cNvGrpSpPr/>
          <p:nvPr/>
        </p:nvGrpSpPr>
        <p:grpSpPr>
          <a:xfrm>
            <a:off x="313844" y="349466"/>
            <a:ext cx="11518407" cy="6218388"/>
            <a:chOff x="313844" y="349466"/>
            <a:chExt cx="11518407" cy="6218388"/>
          </a:xfrm>
          <a:solidFill>
            <a:schemeClr val="accent2">
              <a:lumMod val="60000"/>
              <a:lumOff val="40000"/>
            </a:schemeClr>
          </a:solidFill>
        </p:grpSpPr>
        <p:sp>
          <p:nvSpPr>
            <p:cNvPr id="24" name="Rectangle 23">
              <a:extLst>
                <a:ext uri="{FF2B5EF4-FFF2-40B4-BE49-F238E27FC236}">
                  <a16:creationId xmlns:a16="http://schemas.microsoft.com/office/drawing/2014/main" id="{B895392A-2454-40A6-9F7C-BC20D3A463EB}"/>
                </a:ext>
              </a:extLst>
            </p:cNvPr>
            <p:cNvSpPr/>
            <p:nvPr/>
          </p:nvSpPr>
          <p:spPr>
            <a:xfrm>
              <a:off x="11786532" y="360726"/>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DC7604FF-DE88-44B6-A0D9-723028500B8B}"/>
                </a:ext>
              </a:extLst>
            </p:cNvPr>
            <p:cNvSpPr/>
            <p:nvPr/>
          </p:nvSpPr>
          <p:spPr>
            <a:xfrm rot="5400000">
              <a:off x="11275944" y="-161122"/>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35F4DC18-13F2-43D2-9B15-157998AF1875}"/>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34375A76-1BF8-4628-B0FE-78E1BEB569B2}"/>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9" name="Rectangle 18">
            <a:extLst>
              <a:ext uri="{FF2B5EF4-FFF2-40B4-BE49-F238E27FC236}">
                <a16:creationId xmlns:a16="http://schemas.microsoft.com/office/drawing/2014/main" id="{A6945700-3E62-4469-A35D-2B3AE23A08DF}"/>
              </a:ext>
            </a:extLst>
          </p:cNvPr>
          <p:cNvSpPr/>
          <p:nvPr/>
        </p:nvSpPr>
        <p:spPr>
          <a:xfrm>
            <a:off x="4287946" y="2037337"/>
            <a:ext cx="7497214" cy="646331"/>
          </a:xfrm>
          <a:prstGeom prst="rect">
            <a:avLst/>
          </a:prstGeom>
        </p:spPr>
        <p:txBody>
          <a:bodyPr wrap="square">
            <a:spAutoFit/>
          </a:bodyPr>
          <a:lstStyle/>
          <a:p>
            <a:r>
              <a:rPr lang="en-IN" sz="3600" b="1" dirty="0">
                <a:solidFill>
                  <a:schemeClr val="accent2">
                    <a:lumMod val="75000"/>
                  </a:schemeClr>
                </a:solidFill>
              </a:rPr>
              <a:t>THANK YOU</a:t>
            </a:r>
          </a:p>
        </p:txBody>
      </p:sp>
      <p:pic>
        <p:nvPicPr>
          <p:cNvPr id="3" name="Picture 2">
            <a:extLst>
              <a:ext uri="{FF2B5EF4-FFF2-40B4-BE49-F238E27FC236}">
                <a16:creationId xmlns:a16="http://schemas.microsoft.com/office/drawing/2014/main" id="{52C4D768-9407-716C-2D95-9B58659C25F2}"/>
              </a:ext>
            </a:extLst>
          </p:cNvPr>
          <p:cNvPicPr>
            <a:picLocks noChangeAspect="1"/>
          </p:cNvPicPr>
          <p:nvPr/>
        </p:nvPicPr>
        <p:blipFill>
          <a:blip r:embed="rId2"/>
          <a:stretch>
            <a:fillRect/>
          </a:stretch>
        </p:blipFill>
        <p:spPr>
          <a:xfrm>
            <a:off x="1229360" y="1702366"/>
            <a:ext cx="2306319" cy="3548492"/>
          </a:xfrm>
          <a:prstGeom prst="rect">
            <a:avLst/>
          </a:prstGeom>
        </p:spPr>
      </p:pic>
      <p:sp>
        <p:nvSpPr>
          <p:cNvPr id="4" name="Slide Number Placeholder 3">
            <a:extLst>
              <a:ext uri="{FF2B5EF4-FFF2-40B4-BE49-F238E27FC236}">
                <a16:creationId xmlns:a16="http://schemas.microsoft.com/office/drawing/2014/main" id="{0AED8B4A-C463-BB92-3A7B-8DE8EDC1BBB0}"/>
              </a:ext>
            </a:extLst>
          </p:cNvPr>
          <p:cNvSpPr>
            <a:spLocks noGrp="1"/>
          </p:cNvSpPr>
          <p:nvPr>
            <p:ph type="sldNum" sz="quarter" idx="12"/>
          </p:nvPr>
        </p:nvSpPr>
        <p:spPr/>
        <p:txBody>
          <a:bodyPr/>
          <a:lstStyle/>
          <a:p>
            <a:fld id="{D430BA08-B69C-4752-B2CF-0C56A0BACDE6}" type="slidenum">
              <a:rPr lang="en-IN" smtClean="0"/>
              <a:t>10</a:t>
            </a:fld>
            <a:endParaRPr lang="en-IN"/>
          </a:p>
        </p:txBody>
      </p:sp>
      <p:sp>
        <p:nvSpPr>
          <p:cNvPr id="5" name="Footer Placeholder 18">
            <a:extLst>
              <a:ext uri="{FF2B5EF4-FFF2-40B4-BE49-F238E27FC236}">
                <a16:creationId xmlns:a16="http://schemas.microsoft.com/office/drawing/2014/main" id="{118411A2-D932-25B9-B30C-23FA60314526}"/>
              </a:ext>
            </a:extLst>
          </p:cNvPr>
          <p:cNvSpPr>
            <a:spLocks noGrp="1"/>
          </p:cNvSpPr>
          <p:nvPr>
            <p:ph type="ftr" sz="quarter" idx="11"/>
          </p:nvPr>
        </p:nvSpPr>
        <p:spPr>
          <a:xfrm>
            <a:off x="4038600" y="6356350"/>
            <a:ext cx="4114800" cy="365125"/>
          </a:xfrm>
        </p:spPr>
        <p:txBody>
          <a:bodyPr/>
          <a:lstStyle/>
          <a:p>
            <a:r>
              <a:rPr lang="en-US" sz="1600" dirty="0"/>
              <a:t>Department of Computer Applications</a:t>
            </a:r>
            <a:endParaRPr lang="en-IN" sz="1600" dirty="0"/>
          </a:p>
          <a:p>
            <a:endParaRPr lang="en-IN" sz="1600" dirty="0"/>
          </a:p>
        </p:txBody>
      </p:sp>
    </p:spTree>
    <p:extLst>
      <p:ext uri="{BB962C8B-B14F-4D97-AF65-F5344CB8AC3E}">
        <p14:creationId xmlns:p14="http://schemas.microsoft.com/office/powerpoint/2010/main" val="3498690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9093</TotalTime>
  <Words>953</Words>
  <Application>Microsoft Office PowerPoint</Application>
  <PresentationFormat>Widescreen</PresentationFormat>
  <Paragraphs>115</Paragraphs>
  <Slides>10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Arial</vt:lpstr>
      <vt:lpstr>Calibri</vt:lpstr>
      <vt:lpstr>Calibri Light</vt:lpstr>
      <vt:lpstr>Inter</vt:lpstr>
      <vt:lpstr>Poppins</vt:lpstr>
      <vt:lpstr>Poppins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Thenmozhi</dc:creator>
  <cp:lastModifiedBy>vg9988641@gmail.com</cp:lastModifiedBy>
  <cp:revision>309</cp:revision>
  <dcterms:created xsi:type="dcterms:W3CDTF">2019-05-30T23:14:36Z</dcterms:created>
  <dcterms:modified xsi:type="dcterms:W3CDTF">2026-09-21T11:04:16Z</dcterms:modified>
</cp:coreProperties>
</file>